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81" r:id="rId2"/>
    <p:sldId id="282" r:id="rId3"/>
    <p:sldId id="361" r:id="rId4"/>
    <p:sldId id="360" r:id="rId5"/>
    <p:sldId id="358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2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5534">
          <p15:clr>
            <a:srgbClr val="A4A3A4"/>
          </p15:clr>
        </p15:guide>
        <p15:guide id="4" pos="227">
          <p15:clr>
            <a:srgbClr val="A4A3A4"/>
          </p15:clr>
        </p15:guide>
        <p15:guide id="5" pos="329">
          <p15:clr>
            <a:srgbClr val="A4A3A4"/>
          </p15:clr>
        </p15:guide>
        <p15:guide id="6" pos="5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0" autoAdjust="0"/>
    <p:restoredTop sz="64847" autoAdjust="0"/>
  </p:normalViewPr>
  <p:slideViewPr>
    <p:cSldViewPr snapToGrid="0">
      <p:cViewPr varScale="1">
        <p:scale>
          <a:sx n="129" d="100"/>
          <a:sy n="129" d="100"/>
        </p:scale>
        <p:origin x="1304" y="192"/>
      </p:cViewPr>
      <p:guideLst>
        <p:guide orient="horz" pos="2160"/>
        <p:guide pos="2880"/>
        <p:guide pos="5534"/>
        <p:guide pos="227"/>
        <p:guide pos="329"/>
        <p:guide pos="54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1D010-1088-494B-B7E1-25CD36015848}" type="datetimeFigureOut">
              <a:rPr lang="zh-TW" altLang="en-US" smtClean="0"/>
              <a:t>2019/8/9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55CFB-7240-4F70-8E37-CB3D8E726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162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87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969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066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860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97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28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6"/>
          <p:cNvSpPr/>
          <p:nvPr/>
        </p:nvSpPr>
        <p:spPr>
          <a:xfrm>
            <a:off x="-145426" y="6550025"/>
            <a:ext cx="8335736" cy="211259"/>
          </a:xfrm>
          <a:custGeom>
            <a:avLst/>
            <a:gdLst>
              <a:gd name="connsiteX0" fmla="*/ 0 w 11114314"/>
              <a:gd name="connsiteY0" fmla="*/ 0 h 228600"/>
              <a:gd name="connsiteX1" fmla="*/ 11114314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  <a:gd name="connsiteX0" fmla="*/ 0 w 11114314"/>
              <a:gd name="connsiteY0" fmla="*/ 0 h 228600"/>
              <a:gd name="connsiteX1" fmla="*/ 10972800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4314" h="228600">
                <a:moveTo>
                  <a:pt x="0" y="0"/>
                </a:moveTo>
                <a:lnTo>
                  <a:pt x="10972800" y="0"/>
                </a:lnTo>
                <a:lnTo>
                  <a:pt x="1111431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15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0" name="平行四邊形 20"/>
          <p:cNvSpPr/>
          <p:nvPr/>
        </p:nvSpPr>
        <p:spPr>
          <a:xfrm flipH="1">
            <a:off x="8161197" y="6550027"/>
            <a:ext cx="1001649" cy="211258"/>
          </a:xfrm>
          <a:custGeom>
            <a:avLst/>
            <a:gdLst>
              <a:gd name="connsiteX0" fmla="*/ 0 w 1215703"/>
              <a:gd name="connsiteY0" fmla="*/ 321127 h 321127"/>
              <a:gd name="connsiteX1" fmla="*/ 80282 w 1215703"/>
              <a:gd name="connsiteY1" fmla="*/ 0 h 321127"/>
              <a:gd name="connsiteX2" fmla="*/ 1215703 w 1215703"/>
              <a:gd name="connsiteY2" fmla="*/ 0 h 321127"/>
              <a:gd name="connsiteX3" fmla="*/ 1135421 w 1215703"/>
              <a:gd name="connsiteY3" fmla="*/ 321127 h 321127"/>
              <a:gd name="connsiteX4" fmla="*/ 0 w 1215703"/>
              <a:gd name="connsiteY4" fmla="*/ 321127 h 321127"/>
              <a:gd name="connsiteX0" fmla="*/ 0 w 1286823"/>
              <a:gd name="connsiteY0" fmla="*/ 321127 h 321127"/>
              <a:gd name="connsiteX1" fmla="*/ 80282 w 1286823"/>
              <a:gd name="connsiteY1" fmla="*/ 0 h 321127"/>
              <a:gd name="connsiteX2" fmla="*/ 1286823 w 1286823"/>
              <a:gd name="connsiteY2" fmla="*/ 15240 h 321127"/>
              <a:gd name="connsiteX3" fmla="*/ 1135421 w 1286823"/>
              <a:gd name="connsiteY3" fmla="*/ 321127 h 321127"/>
              <a:gd name="connsiteX4" fmla="*/ 0 w 1286823"/>
              <a:gd name="connsiteY4" fmla="*/ 321127 h 321127"/>
              <a:gd name="connsiteX0" fmla="*/ 0 w 1286823"/>
              <a:gd name="connsiteY0" fmla="*/ 305887 h 305887"/>
              <a:gd name="connsiteX1" fmla="*/ 14242 w 1286823"/>
              <a:gd name="connsiteY1" fmla="*/ 5080 h 305887"/>
              <a:gd name="connsiteX2" fmla="*/ 1286823 w 1286823"/>
              <a:gd name="connsiteY2" fmla="*/ 0 h 305887"/>
              <a:gd name="connsiteX3" fmla="*/ 1135421 w 1286823"/>
              <a:gd name="connsiteY3" fmla="*/ 305887 h 305887"/>
              <a:gd name="connsiteX4" fmla="*/ 0 w 1286823"/>
              <a:gd name="connsiteY4" fmla="*/ 305887 h 305887"/>
              <a:gd name="connsiteX0" fmla="*/ 0 w 1257090"/>
              <a:gd name="connsiteY0" fmla="*/ 300808 h 300808"/>
              <a:gd name="connsiteX1" fmla="*/ 14242 w 1257090"/>
              <a:gd name="connsiteY1" fmla="*/ 1 h 300808"/>
              <a:gd name="connsiteX2" fmla="*/ 1257090 w 1257090"/>
              <a:gd name="connsiteY2" fmla="*/ 920 h 300808"/>
              <a:gd name="connsiteX3" fmla="*/ 1135421 w 1257090"/>
              <a:gd name="connsiteY3" fmla="*/ 300808 h 300808"/>
              <a:gd name="connsiteX4" fmla="*/ 0 w 1257090"/>
              <a:gd name="connsiteY4" fmla="*/ 300808 h 300808"/>
              <a:gd name="connsiteX0" fmla="*/ 0 w 1265585"/>
              <a:gd name="connsiteY0" fmla="*/ 300807 h 300807"/>
              <a:gd name="connsiteX1" fmla="*/ 14242 w 1265585"/>
              <a:gd name="connsiteY1" fmla="*/ 0 h 300807"/>
              <a:gd name="connsiteX2" fmla="*/ 1265585 w 1265585"/>
              <a:gd name="connsiteY2" fmla="*/ 919 h 300807"/>
              <a:gd name="connsiteX3" fmla="*/ 1135421 w 1265585"/>
              <a:gd name="connsiteY3" fmla="*/ 300807 h 300807"/>
              <a:gd name="connsiteX4" fmla="*/ 0 w 1265585"/>
              <a:gd name="connsiteY4" fmla="*/ 300807 h 30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5585" h="300807">
                <a:moveTo>
                  <a:pt x="0" y="300807"/>
                </a:moveTo>
                <a:lnTo>
                  <a:pt x="14242" y="0"/>
                </a:lnTo>
                <a:lnTo>
                  <a:pt x="1265585" y="919"/>
                </a:lnTo>
                <a:lnTo>
                  <a:pt x="1135421" y="300807"/>
                </a:lnTo>
                <a:lnTo>
                  <a:pt x="0" y="300807"/>
                </a:lnTo>
                <a:close/>
              </a:path>
            </a:pathLst>
          </a:custGeom>
          <a:solidFill>
            <a:srgbClr val="D82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28378"/>
            <a:ext cx="7886700" cy="4948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33321" y="6473091"/>
            <a:ext cx="2057400" cy="365125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-277906" y="-71718"/>
            <a:ext cx="9944910" cy="968189"/>
            <a:chOff x="-277906" y="-71718"/>
            <a:chExt cx="9944910" cy="968189"/>
          </a:xfrm>
        </p:grpSpPr>
        <p:sp>
          <p:nvSpPr>
            <p:cNvPr id="12" name="矩形 11"/>
            <p:cNvSpPr/>
            <p:nvPr/>
          </p:nvSpPr>
          <p:spPr>
            <a:xfrm>
              <a:off x="-277906" y="-71718"/>
              <a:ext cx="9944910" cy="96818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Rectangle 3"/>
            <p:cNvSpPr txBox="1">
              <a:spLocks noChangeArrowheads="1"/>
            </p:cNvSpPr>
            <p:nvPr/>
          </p:nvSpPr>
          <p:spPr bwMode="auto">
            <a:xfrm>
              <a:off x="439034" y="260189"/>
              <a:ext cx="2971480" cy="4542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algn="l" fontAlgn="auto">
                <a:lnSpc>
                  <a:spcPct val="80000"/>
                </a:lnSpc>
                <a:spcAft>
                  <a:spcPts val="0"/>
                </a:spcAft>
                <a:defRPr/>
              </a:pPr>
              <a:endPara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</a:endParaRPr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0" y="-71718"/>
              <a:ext cx="304800" cy="968189"/>
              <a:chOff x="0" y="0"/>
              <a:chExt cx="304800" cy="806824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0" y="0"/>
                <a:ext cx="143435" cy="806824"/>
              </a:xfrm>
              <a:prstGeom prst="rect">
                <a:avLst/>
              </a:prstGeom>
              <a:solidFill>
                <a:srgbClr val="D8270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89648" y="0"/>
                <a:ext cx="125504" cy="806824"/>
              </a:xfrm>
              <a:prstGeom prst="rect">
                <a:avLst/>
              </a:prstGeom>
              <a:solidFill>
                <a:srgbClr val="5862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84098" y="0"/>
                <a:ext cx="120702" cy="806824"/>
              </a:xfrm>
              <a:prstGeom prst="rect">
                <a:avLst/>
              </a:prstGeom>
              <a:solidFill>
                <a:srgbClr val="00AB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5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0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22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56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44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 txBox="1">
            <a:spLocks/>
          </p:cNvSpPr>
          <p:nvPr/>
        </p:nvSpPr>
        <p:spPr>
          <a:xfrm>
            <a:off x="7582989" y="64232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173BFC9-37BC-400D-AD1A-8548763EB8E9}" type="slidenum">
              <a:rPr lang="ko-KR" altLang="en-US" smtClean="0">
                <a:solidFill>
                  <a:srgbClr val="3F3F3F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14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98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55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6"/>
          <p:cNvSpPr/>
          <p:nvPr/>
        </p:nvSpPr>
        <p:spPr>
          <a:xfrm>
            <a:off x="-145426" y="6550025"/>
            <a:ext cx="8335736" cy="211259"/>
          </a:xfrm>
          <a:custGeom>
            <a:avLst/>
            <a:gdLst>
              <a:gd name="connsiteX0" fmla="*/ 0 w 11114314"/>
              <a:gd name="connsiteY0" fmla="*/ 0 h 228600"/>
              <a:gd name="connsiteX1" fmla="*/ 11114314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  <a:gd name="connsiteX0" fmla="*/ 0 w 11114314"/>
              <a:gd name="connsiteY0" fmla="*/ 0 h 228600"/>
              <a:gd name="connsiteX1" fmla="*/ 10972800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4314" h="228600">
                <a:moveTo>
                  <a:pt x="0" y="0"/>
                </a:moveTo>
                <a:lnTo>
                  <a:pt x="10972800" y="0"/>
                </a:lnTo>
                <a:lnTo>
                  <a:pt x="1111431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15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平行四邊形 20"/>
          <p:cNvSpPr/>
          <p:nvPr/>
        </p:nvSpPr>
        <p:spPr>
          <a:xfrm flipH="1">
            <a:off x="8161197" y="6550027"/>
            <a:ext cx="1001649" cy="211258"/>
          </a:xfrm>
          <a:custGeom>
            <a:avLst/>
            <a:gdLst>
              <a:gd name="connsiteX0" fmla="*/ 0 w 1215703"/>
              <a:gd name="connsiteY0" fmla="*/ 321127 h 321127"/>
              <a:gd name="connsiteX1" fmla="*/ 80282 w 1215703"/>
              <a:gd name="connsiteY1" fmla="*/ 0 h 321127"/>
              <a:gd name="connsiteX2" fmla="*/ 1215703 w 1215703"/>
              <a:gd name="connsiteY2" fmla="*/ 0 h 321127"/>
              <a:gd name="connsiteX3" fmla="*/ 1135421 w 1215703"/>
              <a:gd name="connsiteY3" fmla="*/ 321127 h 321127"/>
              <a:gd name="connsiteX4" fmla="*/ 0 w 1215703"/>
              <a:gd name="connsiteY4" fmla="*/ 321127 h 321127"/>
              <a:gd name="connsiteX0" fmla="*/ 0 w 1286823"/>
              <a:gd name="connsiteY0" fmla="*/ 321127 h 321127"/>
              <a:gd name="connsiteX1" fmla="*/ 80282 w 1286823"/>
              <a:gd name="connsiteY1" fmla="*/ 0 h 321127"/>
              <a:gd name="connsiteX2" fmla="*/ 1286823 w 1286823"/>
              <a:gd name="connsiteY2" fmla="*/ 15240 h 321127"/>
              <a:gd name="connsiteX3" fmla="*/ 1135421 w 1286823"/>
              <a:gd name="connsiteY3" fmla="*/ 321127 h 321127"/>
              <a:gd name="connsiteX4" fmla="*/ 0 w 1286823"/>
              <a:gd name="connsiteY4" fmla="*/ 321127 h 321127"/>
              <a:gd name="connsiteX0" fmla="*/ 0 w 1286823"/>
              <a:gd name="connsiteY0" fmla="*/ 305887 h 305887"/>
              <a:gd name="connsiteX1" fmla="*/ 14242 w 1286823"/>
              <a:gd name="connsiteY1" fmla="*/ 5080 h 305887"/>
              <a:gd name="connsiteX2" fmla="*/ 1286823 w 1286823"/>
              <a:gd name="connsiteY2" fmla="*/ 0 h 305887"/>
              <a:gd name="connsiteX3" fmla="*/ 1135421 w 1286823"/>
              <a:gd name="connsiteY3" fmla="*/ 305887 h 305887"/>
              <a:gd name="connsiteX4" fmla="*/ 0 w 1286823"/>
              <a:gd name="connsiteY4" fmla="*/ 305887 h 305887"/>
              <a:gd name="connsiteX0" fmla="*/ 0 w 1257090"/>
              <a:gd name="connsiteY0" fmla="*/ 300808 h 300808"/>
              <a:gd name="connsiteX1" fmla="*/ 14242 w 1257090"/>
              <a:gd name="connsiteY1" fmla="*/ 1 h 300808"/>
              <a:gd name="connsiteX2" fmla="*/ 1257090 w 1257090"/>
              <a:gd name="connsiteY2" fmla="*/ 920 h 300808"/>
              <a:gd name="connsiteX3" fmla="*/ 1135421 w 1257090"/>
              <a:gd name="connsiteY3" fmla="*/ 300808 h 300808"/>
              <a:gd name="connsiteX4" fmla="*/ 0 w 1257090"/>
              <a:gd name="connsiteY4" fmla="*/ 300808 h 300808"/>
              <a:gd name="connsiteX0" fmla="*/ 0 w 1265585"/>
              <a:gd name="connsiteY0" fmla="*/ 300807 h 300807"/>
              <a:gd name="connsiteX1" fmla="*/ 14242 w 1265585"/>
              <a:gd name="connsiteY1" fmla="*/ 0 h 300807"/>
              <a:gd name="connsiteX2" fmla="*/ 1265585 w 1265585"/>
              <a:gd name="connsiteY2" fmla="*/ 919 h 300807"/>
              <a:gd name="connsiteX3" fmla="*/ 1135421 w 1265585"/>
              <a:gd name="connsiteY3" fmla="*/ 300807 h 300807"/>
              <a:gd name="connsiteX4" fmla="*/ 0 w 1265585"/>
              <a:gd name="connsiteY4" fmla="*/ 300807 h 30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5585" h="300807">
                <a:moveTo>
                  <a:pt x="0" y="300807"/>
                </a:moveTo>
                <a:lnTo>
                  <a:pt x="14242" y="0"/>
                </a:lnTo>
                <a:lnTo>
                  <a:pt x="1265585" y="919"/>
                </a:lnTo>
                <a:lnTo>
                  <a:pt x="1135421" y="300807"/>
                </a:lnTo>
                <a:lnTo>
                  <a:pt x="0" y="300807"/>
                </a:lnTo>
                <a:close/>
              </a:path>
            </a:pathLst>
          </a:custGeom>
          <a:solidFill>
            <a:srgbClr val="D82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633321" y="6473091"/>
            <a:ext cx="2057400" cy="365125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049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D9CD-7DF9-4044-9F32-0D9CBBCB6C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72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/>
          </a:fgClr>
          <a:bgClr>
            <a:srgbClr val="F7F7F7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26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5" r:id="rId10"/>
    <p:sldLayoutId id="214748367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-446690" y="-241738"/>
            <a:ext cx="10037380" cy="4353693"/>
            <a:chOff x="-446690" y="-241738"/>
            <a:chExt cx="10037380" cy="4353693"/>
          </a:xfrm>
        </p:grpSpPr>
        <p:pic>
          <p:nvPicPr>
            <p:cNvPr id="10" name="图片占位符 34"/>
            <p:cNvPicPr>
              <a:picLocks noChangeAspect="1"/>
            </p:cNvPicPr>
            <p:nvPr/>
          </p:nvPicPr>
          <p:blipFill>
            <a:blip r:embed="rId3">
              <a:grayscl/>
            </a:blip>
            <a:srcRect t="13640" b="13640"/>
            <a:stretch>
              <a:fillRect/>
            </a:stretch>
          </p:blipFill>
          <p:spPr>
            <a:xfrm>
              <a:off x="0" y="-1"/>
              <a:ext cx="9144000" cy="4111953"/>
            </a:xfrm>
            <a:custGeom>
              <a:avLst/>
              <a:gdLst>
                <a:gd name="connsiteX0" fmla="*/ 0 w 10801351"/>
                <a:gd name="connsiteY0" fmla="*/ 0 h 3177153"/>
                <a:gd name="connsiteX1" fmla="*/ 10801351 w 10801351"/>
                <a:gd name="connsiteY1" fmla="*/ 0 h 3177153"/>
                <a:gd name="connsiteX2" fmla="*/ 10801351 w 10801351"/>
                <a:gd name="connsiteY2" fmla="*/ 3177153 h 3177153"/>
                <a:gd name="connsiteX3" fmla="*/ 0 w 10801351"/>
                <a:gd name="connsiteY3" fmla="*/ 3177153 h 317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01351" h="3177153">
                  <a:moveTo>
                    <a:pt x="0" y="0"/>
                  </a:moveTo>
                  <a:lnTo>
                    <a:pt x="10801351" y="0"/>
                  </a:lnTo>
                  <a:lnTo>
                    <a:pt x="10801351" y="3177153"/>
                  </a:lnTo>
                  <a:lnTo>
                    <a:pt x="0" y="3177153"/>
                  </a:lnTo>
                  <a:close/>
                </a:path>
              </a:pathLst>
            </a:custGeom>
          </p:spPr>
        </p:pic>
        <p:sp>
          <p:nvSpPr>
            <p:cNvPr id="11" name="矩形 10"/>
            <p:cNvSpPr/>
            <p:nvPr/>
          </p:nvSpPr>
          <p:spPr>
            <a:xfrm>
              <a:off x="-446690" y="-241738"/>
              <a:ext cx="10037380" cy="4353693"/>
            </a:xfrm>
            <a:prstGeom prst="rect">
              <a:avLst/>
            </a:prstGeom>
            <a:solidFill>
              <a:srgbClr val="0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E5E84856-9EE0-49D8-A433-7848E7DBF894}"/>
              </a:ext>
            </a:extLst>
          </p:cNvPr>
          <p:cNvSpPr/>
          <p:nvPr/>
        </p:nvSpPr>
        <p:spPr>
          <a:xfrm>
            <a:off x="2744120" y="3234791"/>
            <a:ext cx="3655759" cy="1754326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bg1"/>
                </a:solidFill>
              </a:rPr>
              <a:t>Nonlinear Profiles </a:t>
            </a:r>
          </a:p>
          <a:p>
            <a:pPr algn="ctr"/>
            <a:endParaRPr lang="en-US" altLang="zh-TW" sz="3600" b="1" dirty="0"/>
          </a:p>
          <a:p>
            <a:pPr algn="ctr"/>
            <a:r>
              <a:rPr lang="en-US" altLang="zh-TW" sz="3600" b="1" dirty="0"/>
              <a:t>with R </a:t>
            </a:r>
            <a:endParaRPr lang="en-US" altLang="zh-TW" sz="6000" dirty="0"/>
          </a:p>
        </p:txBody>
      </p:sp>
    </p:spTree>
    <p:extLst>
      <p:ext uri="{BB962C8B-B14F-4D97-AF65-F5344CB8AC3E}">
        <p14:creationId xmlns:p14="http://schemas.microsoft.com/office/powerpoint/2010/main" val="403266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-27760" y="441422"/>
            <a:ext cx="9144793" cy="6541398"/>
            <a:chOff x="-27760" y="441422"/>
            <a:chExt cx="9144793" cy="654139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760" y="3142007"/>
              <a:ext cx="9144793" cy="384081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14" name="等腰三角形 13"/>
            <p:cNvSpPr/>
            <p:nvPr/>
          </p:nvSpPr>
          <p:spPr>
            <a:xfrm rot="5400000">
              <a:off x="-207760" y="621422"/>
              <a:ext cx="1260000" cy="900000"/>
            </a:xfrm>
            <a:prstGeom prst="triangle">
              <a:avLst/>
            </a:prstGeom>
            <a:solidFill>
              <a:srgbClr val="E22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 flipH="1">
            <a:off x="8479841" y="2064156"/>
            <a:ext cx="761003" cy="656036"/>
          </a:xfrm>
          <a:prstGeom prst="triangle">
            <a:avLst>
              <a:gd name="adj" fmla="val 63472"/>
            </a:avLst>
          </a:prstGeom>
          <a:solidFill>
            <a:srgbClr val="5862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4088892" y="3142007"/>
            <a:ext cx="486372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685800"/>
            <a:r>
              <a:rPr lang="en-US" altLang="zh-TW" sz="3200" b="1" dirty="0"/>
              <a:t>Introduction</a:t>
            </a:r>
            <a:endParaRPr lang="en-US" altLang="zh-CN" sz="2400" b="1" dirty="0">
              <a:solidFill>
                <a:srgbClr val="000000">
                  <a:lumMod val="75000"/>
                  <a:lumOff val="2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2" name="文本框 37"/>
          <p:cNvSpPr txBox="1"/>
          <p:nvPr/>
        </p:nvSpPr>
        <p:spPr>
          <a:xfrm>
            <a:off x="3660891" y="2126344"/>
            <a:ext cx="467307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685800"/>
            <a:r>
              <a:rPr lang="en-US" altLang="zh-CN" sz="6000" b="1" dirty="0">
                <a:solidFill>
                  <a:srgbClr val="D8270A"/>
                </a:solidFill>
                <a:latin typeface="Arial"/>
                <a:ea typeface="微软雅黑"/>
              </a:rPr>
              <a:t>Section 10.1</a:t>
            </a:r>
            <a:endParaRPr lang="zh-CN" altLang="en-US" sz="6000" b="1" dirty="0">
              <a:solidFill>
                <a:srgbClr val="D8270A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143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64FC71F-0A2C-AB42-A26B-DF397F8EC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How to treat data whose relation between the predictive and response variables is </a:t>
            </a:r>
            <a:r>
              <a:rPr lang="en-US" altLang="zh-TW" dirty="0">
                <a:solidFill>
                  <a:srgbClr val="FFC000"/>
                </a:solidFill>
              </a:rPr>
              <a:t>Nonlinear.</a:t>
            </a:r>
          </a:p>
          <a:p>
            <a:pPr>
              <a:lnSpc>
                <a:spcPct val="150000"/>
              </a:lnSpc>
            </a:pP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76E2070-4B9F-DF45-B2A0-48549A06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8EEFCF-CF4E-644D-B401-20B0078FB50E}"/>
              </a:ext>
            </a:extLst>
          </p:cNvPr>
          <p:cNvSpPr txBox="1"/>
          <p:nvPr/>
        </p:nvSpPr>
        <p:spPr>
          <a:xfrm>
            <a:off x="628650" y="222491"/>
            <a:ext cx="73298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10.1 Introduction</a:t>
            </a:r>
            <a:endParaRPr lang="zh-TW" altLang="en-US" sz="27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6548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-27760" y="441422"/>
            <a:ext cx="9144793" cy="6541398"/>
            <a:chOff x="-27760" y="441422"/>
            <a:chExt cx="9144793" cy="654139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760" y="3142007"/>
              <a:ext cx="9144793" cy="384081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14" name="等腰三角形 13"/>
            <p:cNvSpPr/>
            <p:nvPr/>
          </p:nvSpPr>
          <p:spPr>
            <a:xfrm rot="5400000">
              <a:off x="-207760" y="621422"/>
              <a:ext cx="1260000" cy="900000"/>
            </a:xfrm>
            <a:prstGeom prst="triangle">
              <a:avLst/>
            </a:prstGeom>
            <a:solidFill>
              <a:srgbClr val="E22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 flipH="1">
            <a:off x="8479841" y="2064156"/>
            <a:ext cx="761003" cy="656036"/>
          </a:xfrm>
          <a:prstGeom prst="triangle">
            <a:avLst>
              <a:gd name="adj" fmla="val 63472"/>
            </a:avLst>
          </a:prstGeom>
          <a:solidFill>
            <a:srgbClr val="5862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4154159" y="3142007"/>
            <a:ext cx="4378165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TW" sz="3200" b="1" dirty="0"/>
              <a:t>Nonlinear Profiles Basics </a:t>
            </a:r>
            <a:endParaRPr lang="en-US" altLang="zh-TW" sz="4800" dirty="0"/>
          </a:p>
        </p:txBody>
      </p:sp>
      <p:sp>
        <p:nvSpPr>
          <p:cNvPr id="12" name="文本框 37"/>
          <p:cNvSpPr txBox="1"/>
          <p:nvPr/>
        </p:nvSpPr>
        <p:spPr>
          <a:xfrm>
            <a:off x="3660891" y="2126344"/>
            <a:ext cx="467307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685800"/>
            <a:r>
              <a:rPr lang="en-US" altLang="zh-CN" sz="6000" b="1" dirty="0">
                <a:solidFill>
                  <a:srgbClr val="D8270A"/>
                </a:solidFill>
                <a:latin typeface="Arial"/>
                <a:ea typeface="微软雅黑"/>
              </a:rPr>
              <a:t>Section 10.2</a:t>
            </a:r>
            <a:endParaRPr lang="zh-CN" altLang="en-US" sz="6000" b="1" dirty="0">
              <a:solidFill>
                <a:srgbClr val="D8270A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061748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E67252-1B82-4E99-BC66-97566C11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A287488-66AB-4BBF-9C4C-168CD8ADBC0C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10.2 Example 10.1 Engineered </a:t>
            </a:r>
            <a:r>
              <a:rPr lang="en-US" altLang="zh-TW" sz="2700" dirty="0" err="1">
                <a:latin typeface="+mj-ea"/>
                <a:ea typeface="+mj-ea"/>
              </a:rPr>
              <a:t>woodboards</a:t>
            </a:r>
            <a:endParaRPr lang="en-US" altLang="zh-TW" sz="2800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BEC93F10-3B1A-DE46-972F-B96D4DEEA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82410"/>
            <a:ext cx="7697856" cy="711566"/>
          </a:xfr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CBCE01E-C961-8740-9C1C-91D1E9F8C3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439654"/>
            <a:ext cx="3848400" cy="36252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B9B3C04-441D-CE49-B917-182BEA4A52A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050" y="2420608"/>
            <a:ext cx="3848400" cy="362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93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A084583-6F79-3645-B18D-922CDF02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5BCAAC7-1459-C647-A5E7-63D1F56949B5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10.2 Example 10.1 Engineered </a:t>
            </a:r>
            <a:r>
              <a:rPr lang="en-US" altLang="zh-TW" sz="2700" dirty="0" err="1">
                <a:latin typeface="+mj-ea"/>
                <a:ea typeface="+mj-ea"/>
              </a:rPr>
              <a:t>woodboards</a:t>
            </a:r>
            <a:endParaRPr lang="en-US" altLang="zh-TW" sz="2800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C636625-CD9B-8046-994C-39F542CEF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9952"/>
            <a:ext cx="7886700" cy="2598876"/>
          </a:xfrm>
        </p:spPr>
        <p:txBody>
          <a:bodyPr/>
          <a:lstStyle/>
          <a:p>
            <a:r>
              <a:rPr kumimoji="1" lang="en-US" altLang="zh-TW" dirty="0" err="1"/>
              <a:t>smoothProfiles</a:t>
            </a:r>
            <a:endParaRPr kumimoji="1" lang="en-US" altLang="zh-TW" dirty="0"/>
          </a:p>
          <a:p>
            <a:pPr lvl="1">
              <a:buFont typeface="Wingdings" pitchFamily="2" charset="2"/>
              <a:buChar char="ü"/>
            </a:pPr>
            <a:r>
              <a:rPr kumimoji="1" lang="en-US" altLang="zh-TW" dirty="0"/>
              <a:t> A</a:t>
            </a:r>
            <a:r>
              <a:rPr lang="en-US" altLang="zh-TW" dirty="0"/>
              <a:t>ccepts as first input argument a matrix.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zh-TW" dirty="0"/>
              <a:t> Second input : Vector </a:t>
            </a:r>
          </a:p>
          <a:p>
            <a:pPr lvl="1">
              <a:buFont typeface="Wingdings" pitchFamily="2" charset="2"/>
              <a:buChar char="ü"/>
            </a:pPr>
            <a:r>
              <a:rPr kumimoji="1" lang="en-US" altLang="zh-TW" dirty="0"/>
              <a:t> Output : Matrix </a:t>
            </a:r>
          </a:p>
          <a:p>
            <a:pPr lvl="1">
              <a:buFont typeface="Wingdings" pitchFamily="2" charset="2"/>
              <a:buChar char="ü"/>
            </a:pPr>
            <a:r>
              <a:rPr kumimoji="1" lang="en-US" altLang="zh-TW" dirty="0"/>
              <a:t> </a:t>
            </a:r>
            <a:r>
              <a:rPr lang="en-US" altLang="zh-TW" dirty="0"/>
              <a:t>SVM model inside.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zh-TW" dirty="0"/>
              <a:t> From package ” e1071 ” </a:t>
            </a:r>
          </a:p>
          <a:p>
            <a:pPr lvl="1">
              <a:buFont typeface="Wingdings" pitchFamily="2" charset="2"/>
              <a:buChar char="ü"/>
            </a:pPr>
            <a:endParaRPr kumimoji="1" lang="zh-TW" altLang="en-US" dirty="0"/>
          </a:p>
        </p:txBody>
      </p:sp>
      <p:pic>
        <p:nvPicPr>
          <p:cNvPr id="8" name="內容版面配置區 5">
            <a:extLst>
              <a:ext uri="{FF2B5EF4-FFF2-40B4-BE49-F238E27FC236}">
                <a16:creationId xmlns:a16="http://schemas.microsoft.com/office/drawing/2014/main" id="{9DE623E1-A059-514B-890B-E46DFF459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858828"/>
            <a:ext cx="7886700" cy="220240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3C57083-849C-AC42-B9B9-71E851302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01" y="1240074"/>
            <a:ext cx="5466717" cy="486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5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8359DFA7-F17C-B046-A113-5A8B918C3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82787"/>
            <a:ext cx="7888272" cy="70138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94E003E-1A58-1845-8C3E-C45F9D421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9DA977-F7C0-4C46-8515-715E4FFCFD03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10.2 Example 10.1 Engineered </a:t>
            </a:r>
            <a:r>
              <a:rPr lang="en-US" altLang="zh-TW" sz="2700" dirty="0" err="1">
                <a:latin typeface="+mj-ea"/>
                <a:ea typeface="+mj-ea"/>
              </a:rPr>
              <a:t>woodboards</a:t>
            </a:r>
            <a:endParaRPr lang="en-US" altLang="zh-TW" sz="28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78093BD-6100-2D4A-8352-D1F984BD9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73" y="3776476"/>
            <a:ext cx="7995848" cy="86312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31B62A8-0D0E-2A43-9BB7-C956426B1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38018"/>
            <a:ext cx="7888272" cy="85246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A69DA-5E7B-A241-850F-655CBF29F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322" y="1238018"/>
            <a:ext cx="3945600" cy="360818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D07771D7-2C0B-B145-956E-538150C209D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22" y="1238018"/>
            <a:ext cx="3945600" cy="3608181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E7943EB2-4601-9B41-9C05-86794ED2266C}"/>
              </a:ext>
            </a:extLst>
          </p:cNvPr>
          <p:cNvSpPr txBox="1"/>
          <p:nvPr/>
        </p:nvSpPr>
        <p:spPr>
          <a:xfrm>
            <a:off x="666173" y="4508500"/>
            <a:ext cx="7847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Always check that the smoothing procedure is working well.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TW" dirty="0"/>
              <a:t>Plot jointly the profile itself and its smoothed version.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TW" dirty="0"/>
              <a:t>Check if the smoothing procedure is working similarly or not.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F84A91F-4026-3C40-9668-A39912045FC1}"/>
              </a:ext>
            </a:extLst>
          </p:cNvPr>
          <p:cNvSpPr txBox="1"/>
          <p:nvPr/>
        </p:nvSpPr>
        <p:spPr>
          <a:xfrm>
            <a:off x="666173" y="5434543"/>
            <a:ext cx="784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Fail: use the </a:t>
            </a:r>
            <a:r>
              <a:rPr lang="en-US" altLang="zh-TW" u="sng" dirty="0"/>
              <a:t>original set of profiles</a:t>
            </a:r>
            <a:r>
              <a:rPr lang="en-US" altLang="zh-TW" dirty="0"/>
              <a:t> without smoothing. </a:t>
            </a:r>
          </a:p>
          <a:p>
            <a:r>
              <a:rPr lang="en-US" altLang="zh-TW" dirty="0"/>
              <a:t>Change the default SVM parameters in the </a:t>
            </a:r>
            <a:r>
              <a:rPr lang="en-US" altLang="zh-TW" dirty="0" err="1"/>
              <a:t>smoothProfiles</a:t>
            </a:r>
            <a:r>
              <a:rPr lang="en-US" altLang="zh-TW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5892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-27760" y="441422"/>
            <a:ext cx="9144793" cy="6541398"/>
            <a:chOff x="-27760" y="441422"/>
            <a:chExt cx="9144793" cy="654139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760" y="3142007"/>
              <a:ext cx="9144793" cy="384081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14" name="等腰三角形 13"/>
            <p:cNvSpPr/>
            <p:nvPr/>
          </p:nvSpPr>
          <p:spPr>
            <a:xfrm rot="5400000">
              <a:off x="-207760" y="621422"/>
              <a:ext cx="1260000" cy="900000"/>
            </a:xfrm>
            <a:prstGeom prst="triangle">
              <a:avLst/>
            </a:prstGeom>
            <a:solidFill>
              <a:srgbClr val="E22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 flipH="1">
            <a:off x="8479841" y="2064156"/>
            <a:ext cx="761003" cy="656036"/>
          </a:xfrm>
          <a:prstGeom prst="triangle">
            <a:avLst>
              <a:gd name="adj" fmla="val 63472"/>
            </a:avLst>
          </a:prstGeom>
          <a:solidFill>
            <a:srgbClr val="5862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3883511" y="3142007"/>
            <a:ext cx="4648813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TW" sz="3200" b="1" dirty="0"/>
              <a:t>Phase I &amp; Phase II Analysis</a:t>
            </a:r>
            <a:endParaRPr lang="en-US" altLang="zh-TW" sz="4800" dirty="0"/>
          </a:p>
        </p:txBody>
      </p:sp>
      <p:sp>
        <p:nvSpPr>
          <p:cNvPr id="12" name="文本框 37"/>
          <p:cNvSpPr txBox="1"/>
          <p:nvPr/>
        </p:nvSpPr>
        <p:spPr>
          <a:xfrm>
            <a:off x="3660891" y="2126344"/>
            <a:ext cx="467307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685800"/>
            <a:r>
              <a:rPr lang="en-US" altLang="zh-CN" sz="6000" b="1" dirty="0">
                <a:solidFill>
                  <a:srgbClr val="D8270A"/>
                </a:solidFill>
                <a:latin typeface="Arial"/>
                <a:ea typeface="微软雅黑"/>
              </a:rPr>
              <a:t>Section 10.3</a:t>
            </a:r>
            <a:endParaRPr lang="zh-CN" altLang="en-US" sz="6000" b="1" dirty="0">
              <a:solidFill>
                <a:srgbClr val="D8270A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1447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3EDBE9B-90C9-834A-B85E-5BF34BA3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Phase I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Test the stability of the process, in order to model the in-control process performance. </a:t>
            </a:r>
            <a:endParaRPr kumimoji="1" lang="en-US" altLang="zh-TW" dirty="0"/>
          </a:p>
          <a:p>
            <a:pPr>
              <a:lnSpc>
                <a:spcPct val="150000"/>
              </a:lnSpc>
            </a:pPr>
            <a:r>
              <a:rPr kumimoji="1" lang="en-US" altLang="zh-TW" dirty="0"/>
              <a:t>Phase II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Monitor the process. </a:t>
            </a:r>
          </a:p>
          <a:p>
            <a:pPr lvl="1">
              <a:lnSpc>
                <a:spcPct val="150000"/>
              </a:lnSpc>
            </a:pP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259FDC-93B1-FC4F-930C-7EA2E5A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E30D03B-347D-EE45-BE4B-AB792E6B56F4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Phase I &amp; Phase II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02394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65A48C-9F11-234D-A218-86B3B6F0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EC2F9A-404E-B945-861E-7D936FFB135A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Example – Phase I Analysis </a:t>
            </a:r>
            <a:endParaRPr lang="en-US" altLang="zh-TW" sz="2800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07EC04BD-86E8-E946-A967-DE0A19E02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Two subset 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7F09EB5-2873-F04A-8E86-D90CAC3E2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53506"/>
              </p:ext>
            </p:extLst>
          </p:nvPr>
        </p:nvGraphicFramePr>
        <p:xfrm>
          <a:off x="1090738" y="1751099"/>
          <a:ext cx="6962524" cy="244848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481262">
                  <a:extLst>
                    <a:ext uri="{9D8B030D-6E8A-4147-A177-3AD203B41FA5}">
                      <a16:colId xmlns:a16="http://schemas.microsoft.com/office/drawing/2014/main" val="1120265016"/>
                    </a:ext>
                  </a:extLst>
                </a:gridCol>
                <a:gridCol w="3481262">
                  <a:extLst>
                    <a:ext uri="{9D8B030D-6E8A-4147-A177-3AD203B41FA5}">
                      <a16:colId xmlns:a16="http://schemas.microsoft.com/office/drawing/2014/main" val="1973157401"/>
                    </a:ext>
                  </a:extLst>
                </a:gridCol>
              </a:tblGrid>
              <a:tr h="51136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/>
                        <a:t>First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Second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257758"/>
                  </a:ext>
                </a:extLst>
              </a:tr>
              <a:tr h="51136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/>
                        <a:t>P1 – P35 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/>
                        <a:t>P36 – P50 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949673"/>
                  </a:ext>
                </a:extLst>
              </a:tr>
              <a:tr h="5113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First seven 4-h shifts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Remaining  4-h shifts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05704"/>
                  </a:ext>
                </a:extLst>
              </a:tr>
              <a:tr h="5113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effectLst/>
                        </a:rPr>
                        <a:t>Seek for a baseline subset of in-control profiles.</a:t>
                      </a:r>
                      <a:endParaRPr lang="en-US" altLang="zh-TW" dirty="0"/>
                    </a:p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540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710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86E56D6-89A5-4F46-8F31-9F3BA6F1C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91484"/>
            <a:ext cx="7886700" cy="226027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F7F306-F78D-4242-BE4A-977652E8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7CD54C6-581C-0D46-9D51-1C55B2528FDE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Example – Phase I Analysis </a:t>
            </a:r>
            <a:endParaRPr lang="en-US" altLang="zh-TW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2E8C077-DDE4-8942-9808-38BB0DF32D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9" r="8127"/>
          <a:stretch/>
        </p:blipFill>
        <p:spPr>
          <a:xfrm>
            <a:off x="628650" y="1272914"/>
            <a:ext cx="5114228" cy="36245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EAF5FF-0D5C-A344-B0D7-104219822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679" y="1067047"/>
            <a:ext cx="6768791" cy="520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0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6864750-6617-C449-A438-D93FBE9D8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388284"/>
            <a:ext cx="7886700" cy="4442233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DE86F2-FDDB-BE4D-BA48-3128E48B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C6A5D02-FB5D-6C49-A8EE-68EF0CC15D01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Example – Phase I Analysis </a:t>
            </a:r>
            <a:endParaRPr lang="en-US" altLang="zh-TW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0E6220C-0F28-204D-BAE9-041AD7C53B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27"/>
          <a:stretch/>
        </p:blipFill>
        <p:spPr>
          <a:xfrm>
            <a:off x="628650" y="1316350"/>
            <a:ext cx="7886700" cy="299917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841F036-B05A-6240-BB9F-A0646D6DC448}"/>
              </a:ext>
            </a:extLst>
          </p:cNvPr>
          <p:cNvSpPr/>
          <p:nvPr/>
        </p:nvSpPr>
        <p:spPr>
          <a:xfrm>
            <a:off x="1237785" y="2174488"/>
            <a:ext cx="1683835" cy="2899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818EF85-1E4E-964D-A110-45460F932F2F}"/>
              </a:ext>
            </a:extLst>
          </p:cNvPr>
          <p:cNvSpPr txBox="1"/>
          <p:nvPr/>
        </p:nvSpPr>
        <p:spPr>
          <a:xfrm>
            <a:off x="2991679" y="2119399"/>
            <a:ext cx="3001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C00000"/>
                </a:solidFill>
              </a:rPr>
              <a:t>Out when p &gt; 0.8</a:t>
            </a:r>
            <a:endParaRPr kumimoji="1" lang="zh-TW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66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3116B7D-AF9D-2444-A9F0-602DD8630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88976"/>
            <a:ext cx="7886700" cy="201934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0487B67-2333-0E41-AD54-478D53B7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BF485C-50AF-6F42-B6CC-B2CEAA52CFB2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Example Phase I Analysis – Remove P28 </a:t>
            </a:r>
            <a:endParaRPr lang="en-US" altLang="zh-TW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E50E700-A1C6-2B48-BDE3-488BEACFC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08317"/>
            <a:ext cx="7886700" cy="141754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9DE30B8-5AE8-344C-8D7C-AD783AC0A48A}"/>
              </a:ext>
            </a:extLst>
          </p:cNvPr>
          <p:cNvSpPr txBox="1"/>
          <p:nvPr/>
        </p:nvSpPr>
        <p:spPr>
          <a:xfrm>
            <a:off x="1484876" y="5115146"/>
            <a:ext cx="6473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It is clear that now the process seems to be in control.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Confidence bands and the baseline profiles have been determined. </a:t>
            </a: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2F347F0A-2627-8D49-806C-57949AB34053}"/>
              </a:ext>
            </a:extLst>
          </p:cNvPr>
          <p:cNvSpPr/>
          <p:nvPr/>
        </p:nvSpPr>
        <p:spPr>
          <a:xfrm>
            <a:off x="853438" y="5191602"/>
            <a:ext cx="631438" cy="2721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65A1AC7-B9B9-5142-8E1D-D001C9E6CD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91" y="1288976"/>
            <a:ext cx="8046137" cy="326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2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2610C03-826F-CE40-9B42-BD5632D85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60" y="1283804"/>
            <a:ext cx="7518400" cy="4445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71CE90-07E1-DB4D-B2DE-0880F2E8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BCD05A-EB17-D642-8ECC-3D82A28E0712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Phase II </a:t>
            </a:r>
            <a:endParaRPr lang="en-US" altLang="zh-TW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5E7DF57-11A9-614D-9BC5-25A2373C8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60" y="4450339"/>
            <a:ext cx="8050840" cy="150841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1E1B0F2-ACC8-BE42-8392-9E7D03C64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60" y="1728304"/>
            <a:ext cx="8050840" cy="272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85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5F49E1-B94F-5944-8584-AFFE0A437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87849"/>
            <a:ext cx="7886700" cy="119469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EC8DFF4-E808-974A-BAF7-E869B32B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D2B9CDB-29E9-BC43-8E41-8FFE5DEC791B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Phase II</a:t>
            </a:r>
            <a:endParaRPr lang="en-US" altLang="zh-TW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51B137F-5BB7-E04C-9CF7-42B651B59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162" y="2506660"/>
            <a:ext cx="4702795" cy="396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22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8153B99-2A91-2045-9566-0AF49E134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278" y="2718680"/>
            <a:ext cx="4415190" cy="375441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3862D1C-30E5-D242-9738-0D241CFD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2C17650-0672-D14C-8C73-CE55FE555955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Phase II</a:t>
            </a:r>
            <a:endParaRPr lang="en-US" altLang="zh-TW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B7E980E-2D3A-7D43-8D06-DF62571BF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79" y="1228725"/>
            <a:ext cx="7975639" cy="148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8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217B3C3-9117-D243-8A14-EA03025F0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54160"/>
            <a:ext cx="7886700" cy="3907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C6A1C2B-A0EA-F84F-95B5-9BADB69D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A4E68B2-5B54-8A4A-AD73-9328A6E50045}"/>
              </a:ext>
            </a:extLst>
          </p:cNvPr>
          <p:cNvSpPr txBox="1"/>
          <p:nvPr/>
        </p:nvSpPr>
        <p:spPr>
          <a:xfrm>
            <a:off x="628650" y="222491"/>
            <a:ext cx="7329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dirty="0">
                <a:latin typeface="+mj-ea"/>
                <a:ea typeface="+mj-ea"/>
              </a:rPr>
              <a:t>10.3 Phase II</a:t>
            </a:r>
            <a:endParaRPr lang="en-US" altLang="zh-TW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9707AC9-1539-0842-9165-2367B5BA5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47378"/>
            <a:ext cx="7886700" cy="473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13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838" y="1588038"/>
            <a:ext cx="5298332" cy="3973749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054712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5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F9534BCE-557B-490E-AFC8-0BC8166C4F84}" vid="{665F76A3-4E5B-43CE-82D6-3F389CA4AEE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2068</TotalTime>
  <Words>274</Words>
  <Application>Microsoft Macintosh PowerPoint</Application>
  <PresentationFormat>如螢幕大小 (4:3)</PresentationFormat>
  <Paragraphs>68</Paragraphs>
  <Slides>18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7" baseType="lpstr">
      <vt:lpstr>微軟正黑體</vt:lpstr>
      <vt:lpstr>新細明體</vt:lpstr>
      <vt:lpstr>等线</vt:lpstr>
      <vt:lpstr>微软雅黑</vt:lpstr>
      <vt:lpstr>Arial</vt:lpstr>
      <vt:lpstr>Calibri</vt:lpstr>
      <vt:lpstr>Tahoma</vt:lpstr>
      <vt:lpstr>Wingdings</vt:lpstr>
      <vt:lpstr>佈景主題1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Charts </dc:title>
  <dc:creator>博惇 許</dc:creator>
  <cp:lastModifiedBy>博惇 許</cp:lastModifiedBy>
  <cp:revision>63</cp:revision>
  <dcterms:created xsi:type="dcterms:W3CDTF">2019-07-31T12:46:01Z</dcterms:created>
  <dcterms:modified xsi:type="dcterms:W3CDTF">2019-08-09T09:56:44Z</dcterms:modified>
</cp:coreProperties>
</file>