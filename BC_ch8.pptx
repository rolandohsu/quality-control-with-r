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7"/>
  </p:notesMasterIdLst>
  <p:sldIdLst>
    <p:sldId id="281" r:id="rId2"/>
    <p:sldId id="282" r:id="rId3"/>
    <p:sldId id="257" r:id="rId4"/>
    <p:sldId id="322" r:id="rId5"/>
    <p:sldId id="258" r:id="rId6"/>
    <p:sldId id="259" r:id="rId7"/>
    <p:sldId id="260" r:id="rId8"/>
    <p:sldId id="261" r:id="rId9"/>
    <p:sldId id="262" r:id="rId10"/>
    <p:sldId id="263" r:id="rId11"/>
    <p:sldId id="283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7" r:id="rId22"/>
    <p:sldId id="275" r:id="rId23"/>
    <p:sldId id="276" r:id="rId24"/>
    <p:sldId id="278" r:id="rId25"/>
    <p:sldId id="321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pos="5534">
          <p15:clr>
            <a:srgbClr val="A4A3A4"/>
          </p15:clr>
        </p15:guide>
        <p15:guide id="4" pos="227">
          <p15:clr>
            <a:srgbClr val="A4A3A4"/>
          </p15:clr>
        </p15:guide>
        <p15:guide id="5" pos="329">
          <p15:clr>
            <a:srgbClr val="A4A3A4"/>
          </p15:clr>
        </p15:guide>
        <p15:guide id="6" pos="543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E6E6"/>
    <a:srgbClr val="9DC3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淺色樣式 3 - 輔色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2C8C85-51F0-491E-9774-3900AFEF0FD7}" styleName="淺色樣式 2 - 輔色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8" autoAdjust="0"/>
    <p:restoredTop sz="81707" autoAdjust="0"/>
  </p:normalViewPr>
  <p:slideViewPr>
    <p:cSldViewPr snapToGrid="0">
      <p:cViewPr varScale="1">
        <p:scale>
          <a:sx n="104" d="100"/>
          <a:sy n="104" d="100"/>
        </p:scale>
        <p:origin x="1984" y="192"/>
      </p:cViewPr>
      <p:guideLst>
        <p:guide orient="horz" pos="2160"/>
        <p:guide pos="2880"/>
        <p:guide pos="5534"/>
        <p:guide pos="227"/>
        <p:guide pos="329"/>
        <p:guide pos="543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6CB835-587F-4A30-81D7-0A15CF8C3F0B}" type="datetimeFigureOut">
              <a:rPr lang="zh-TW" altLang="en-US" smtClean="0"/>
              <a:t>2019/8/9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7DF4F3-7A8C-4972-AEBB-39FF7558447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6779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C13D75-0971-46E2-972F-876BF1F0223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6879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FE3ACE-7E26-41F4-8E9F-6093BA28563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29699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idea is to fix some specification limits, Upper and/or Lower (USL and LSL respectively), and compare them with the natural limits of</a:t>
            </a:r>
          </a:p>
          <a:p>
            <a:r>
              <a:rPr lang="en-US" altLang="zh-TW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process.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DF4F3-7A8C-4972-AEBB-39FF75584476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99843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FE3ACE-7E26-41F4-8E9F-6093BA28563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01028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DF4F3-7A8C-4972-AEBB-39FF75584476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31099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DF4F3-7A8C-4972-AEBB-39FF75584476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80179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FE3ACE-7E26-41F4-8E9F-6093BA285631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2627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/>
              <a:t>我們會希望 製程是根據常態分佈去執行的</a:t>
            </a:r>
            <a:endParaRPr kumimoji="1" lang="en-US" altLang="zh-TW" dirty="0"/>
          </a:p>
          <a:p>
            <a:r>
              <a:rPr kumimoji="1" lang="zh-TW" altLang="en-US" dirty="0"/>
              <a:t>所以這裡先記算</a:t>
            </a:r>
            <a:r>
              <a:rPr kumimoji="1" lang="en-US" altLang="zh-TW" dirty="0"/>
              <a:t>Pp</a:t>
            </a:r>
            <a:r>
              <a:rPr kumimoji="1" lang="zh-TW" altLang="en-US" dirty="0"/>
              <a:t> 用</a:t>
            </a:r>
            <a:r>
              <a:rPr kumimoji="1" lang="en-US" altLang="zh-TW" dirty="0"/>
              <a:t>specification limits</a:t>
            </a:r>
            <a:r>
              <a:rPr kumimoji="1" lang="zh-TW" altLang="en-US" dirty="0"/>
              <a:t> 去計算而得</a:t>
            </a:r>
            <a:endParaRPr kumimoji="1" lang="en-US" altLang="zh-TW" dirty="0"/>
          </a:p>
          <a:p>
            <a:r>
              <a:rPr kumimoji="1" lang="zh-TW" altLang="en-US" dirty="0"/>
              <a:t>接著計算 </a:t>
            </a:r>
            <a:r>
              <a:rPr kumimoji="1" lang="en-US" altLang="zh-TW" dirty="0" err="1"/>
              <a:t>PpkU</a:t>
            </a:r>
            <a:r>
              <a:rPr kumimoji="1" lang="en-US" altLang="zh-TW" dirty="0"/>
              <a:t>  </a:t>
            </a:r>
            <a:r>
              <a:rPr kumimoji="1" lang="en-US" altLang="zh-TW" dirty="0" err="1"/>
              <a:t>PpkL</a:t>
            </a:r>
            <a:r>
              <a:rPr kumimoji="1" lang="zh-TW" altLang="en-US" dirty="0"/>
              <a:t> 然後比較最小的與Ｐ</a:t>
            </a:r>
            <a:r>
              <a:rPr kumimoji="1" lang="en-US" altLang="zh-TW" dirty="0"/>
              <a:t>p</a:t>
            </a:r>
            <a:r>
              <a:rPr kumimoji="1" lang="zh-CN" altLang="en-US" dirty="0"/>
              <a:t>的差異</a:t>
            </a:r>
            <a:endParaRPr kumimoji="1" lang="en-US" altLang="zh-CN" dirty="0"/>
          </a:p>
          <a:p>
            <a:r>
              <a:rPr kumimoji="1" lang="zh-CN" altLang="en-US" dirty="0"/>
              <a:t>如果相同則代表</a:t>
            </a:r>
            <a:r>
              <a:rPr kumimoji="1" lang="zh-TW" altLang="en-US" dirty="0"/>
              <a:t> 長期來說 製程錯誤率會是訂定的</a:t>
            </a:r>
            <a:r>
              <a:rPr kumimoji="1" lang="en-US" altLang="zh-TW" dirty="0"/>
              <a:t>alpha</a:t>
            </a:r>
            <a:r>
              <a:rPr kumimoji="1" lang="zh-TW" altLang="en-US" dirty="0"/>
              <a:t>％</a:t>
            </a:r>
            <a:endParaRPr kumimoji="1" lang="en-US" altLang="zh-TW" dirty="0"/>
          </a:p>
          <a:p>
            <a:endParaRPr kumimoji="1" lang="en-US" altLang="zh-TW" dirty="0"/>
          </a:p>
          <a:p>
            <a:r>
              <a:rPr kumimoji="1" lang="zh-TW" altLang="en-US" dirty="0"/>
              <a:t>但如果不同 </a:t>
            </a:r>
            <a:r>
              <a:rPr kumimoji="1" lang="en-US" altLang="zh-TW" dirty="0" err="1"/>
              <a:t>indice</a:t>
            </a:r>
            <a:r>
              <a:rPr kumimoji="1" lang="en-US" altLang="zh-TW" dirty="0"/>
              <a:t> &gt;1</a:t>
            </a:r>
            <a:r>
              <a:rPr kumimoji="1" lang="zh-TW" altLang="en-US" dirty="0"/>
              <a:t>代表較為嚴格 </a:t>
            </a:r>
            <a:r>
              <a:rPr kumimoji="1" lang="en-US" altLang="zh-TW" dirty="0" err="1"/>
              <a:t>indice</a:t>
            </a:r>
            <a:r>
              <a:rPr kumimoji="1" lang="en-US" altLang="zh-TW" dirty="0"/>
              <a:t>&lt;</a:t>
            </a:r>
            <a:r>
              <a:rPr kumimoji="1" lang="zh-CN" altLang="en-US" dirty="0"/>
              <a:t>代表較不嚴格</a:t>
            </a:r>
            <a:r>
              <a:rPr kumimoji="1" lang="zh-TW" altLang="en-US" dirty="0"/>
              <a:t> 可能使得其無法滿足</a:t>
            </a:r>
            <a:r>
              <a:rPr kumimoji="1" lang="en-US" altLang="zh-TW" dirty="0"/>
              <a:t>customer tolerance </a:t>
            </a:r>
          </a:p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DF4F3-7A8C-4972-AEBB-39FF75584476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1715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DF4F3-7A8C-4972-AEBB-39FF75584476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92064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DF4F3-7A8C-4972-AEBB-39FF75584476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77711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DF4F3-7A8C-4972-AEBB-39FF75584476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41777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FE3ACE-7E26-41F4-8E9F-6093BA285631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197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285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16"/>
          <p:cNvSpPr/>
          <p:nvPr/>
        </p:nvSpPr>
        <p:spPr>
          <a:xfrm>
            <a:off x="-145426" y="6550025"/>
            <a:ext cx="8335736" cy="211259"/>
          </a:xfrm>
          <a:custGeom>
            <a:avLst/>
            <a:gdLst>
              <a:gd name="connsiteX0" fmla="*/ 0 w 11114314"/>
              <a:gd name="connsiteY0" fmla="*/ 0 h 228600"/>
              <a:gd name="connsiteX1" fmla="*/ 11114314 w 11114314"/>
              <a:gd name="connsiteY1" fmla="*/ 0 h 228600"/>
              <a:gd name="connsiteX2" fmla="*/ 11114314 w 11114314"/>
              <a:gd name="connsiteY2" fmla="*/ 228600 h 228600"/>
              <a:gd name="connsiteX3" fmla="*/ 0 w 11114314"/>
              <a:gd name="connsiteY3" fmla="*/ 228600 h 228600"/>
              <a:gd name="connsiteX4" fmla="*/ 0 w 11114314"/>
              <a:gd name="connsiteY4" fmla="*/ 0 h 228600"/>
              <a:gd name="connsiteX0" fmla="*/ 0 w 11114314"/>
              <a:gd name="connsiteY0" fmla="*/ 0 h 228600"/>
              <a:gd name="connsiteX1" fmla="*/ 10972800 w 11114314"/>
              <a:gd name="connsiteY1" fmla="*/ 0 h 228600"/>
              <a:gd name="connsiteX2" fmla="*/ 11114314 w 11114314"/>
              <a:gd name="connsiteY2" fmla="*/ 228600 h 228600"/>
              <a:gd name="connsiteX3" fmla="*/ 0 w 11114314"/>
              <a:gd name="connsiteY3" fmla="*/ 228600 h 228600"/>
              <a:gd name="connsiteX4" fmla="*/ 0 w 11114314"/>
              <a:gd name="connsiteY4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14314" h="228600">
                <a:moveTo>
                  <a:pt x="0" y="0"/>
                </a:moveTo>
                <a:lnTo>
                  <a:pt x="10972800" y="0"/>
                </a:lnTo>
                <a:lnTo>
                  <a:pt x="11114314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4154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350">
              <a:solidFill>
                <a:prstClr val="white"/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10" name="平行四邊形 20"/>
          <p:cNvSpPr/>
          <p:nvPr/>
        </p:nvSpPr>
        <p:spPr>
          <a:xfrm flipH="1">
            <a:off x="8161197" y="6550027"/>
            <a:ext cx="1001649" cy="211258"/>
          </a:xfrm>
          <a:custGeom>
            <a:avLst/>
            <a:gdLst>
              <a:gd name="connsiteX0" fmla="*/ 0 w 1215703"/>
              <a:gd name="connsiteY0" fmla="*/ 321127 h 321127"/>
              <a:gd name="connsiteX1" fmla="*/ 80282 w 1215703"/>
              <a:gd name="connsiteY1" fmla="*/ 0 h 321127"/>
              <a:gd name="connsiteX2" fmla="*/ 1215703 w 1215703"/>
              <a:gd name="connsiteY2" fmla="*/ 0 h 321127"/>
              <a:gd name="connsiteX3" fmla="*/ 1135421 w 1215703"/>
              <a:gd name="connsiteY3" fmla="*/ 321127 h 321127"/>
              <a:gd name="connsiteX4" fmla="*/ 0 w 1215703"/>
              <a:gd name="connsiteY4" fmla="*/ 321127 h 321127"/>
              <a:gd name="connsiteX0" fmla="*/ 0 w 1286823"/>
              <a:gd name="connsiteY0" fmla="*/ 321127 h 321127"/>
              <a:gd name="connsiteX1" fmla="*/ 80282 w 1286823"/>
              <a:gd name="connsiteY1" fmla="*/ 0 h 321127"/>
              <a:gd name="connsiteX2" fmla="*/ 1286823 w 1286823"/>
              <a:gd name="connsiteY2" fmla="*/ 15240 h 321127"/>
              <a:gd name="connsiteX3" fmla="*/ 1135421 w 1286823"/>
              <a:gd name="connsiteY3" fmla="*/ 321127 h 321127"/>
              <a:gd name="connsiteX4" fmla="*/ 0 w 1286823"/>
              <a:gd name="connsiteY4" fmla="*/ 321127 h 321127"/>
              <a:gd name="connsiteX0" fmla="*/ 0 w 1286823"/>
              <a:gd name="connsiteY0" fmla="*/ 305887 h 305887"/>
              <a:gd name="connsiteX1" fmla="*/ 14242 w 1286823"/>
              <a:gd name="connsiteY1" fmla="*/ 5080 h 305887"/>
              <a:gd name="connsiteX2" fmla="*/ 1286823 w 1286823"/>
              <a:gd name="connsiteY2" fmla="*/ 0 h 305887"/>
              <a:gd name="connsiteX3" fmla="*/ 1135421 w 1286823"/>
              <a:gd name="connsiteY3" fmla="*/ 305887 h 305887"/>
              <a:gd name="connsiteX4" fmla="*/ 0 w 1286823"/>
              <a:gd name="connsiteY4" fmla="*/ 305887 h 305887"/>
              <a:gd name="connsiteX0" fmla="*/ 0 w 1257090"/>
              <a:gd name="connsiteY0" fmla="*/ 300808 h 300808"/>
              <a:gd name="connsiteX1" fmla="*/ 14242 w 1257090"/>
              <a:gd name="connsiteY1" fmla="*/ 1 h 300808"/>
              <a:gd name="connsiteX2" fmla="*/ 1257090 w 1257090"/>
              <a:gd name="connsiteY2" fmla="*/ 920 h 300808"/>
              <a:gd name="connsiteX3" fmla="*/ 1135421 w 1257090"/>
              <a:gd name="connsiteY3" fmla="*/ 300808 h 300808"/>
              <a:gd name="connsiteX4" fmla="*/ 0 w 1257090"/>
              <a:gd name="connsiteY4" fmla="*/ 300808 h 300808"/>
              <a:gd name="connsiteX0" fmla="*/ 0 w 1265585"/>
              <a:gd name="connsiteY0" fmla="*/ 300807 h 300807"/>
              <a:gd name="connsiteX1" fmla="*/ 14242 w 1265585"/>
              <a:gd name="connsiteY1" fmla="*/ 0 h 300807"/>
              <a:gd name="connsiteX2" fmla="*/ 1265585 w 1265585"/>
              <a:gd name="connsiteY2" fmla="*/ 919 h 300807"/>
              <a:gd name="connsiteX3" fmla="*/ 1135421 w 1265585"/>
              <a:gd name="connsiteY3" fmla="*/ 300807 h 300807"/>
              <a:gd name="connsiteX4" fmla="*/ 0 w 1265585"/>
              <a:gd name="connsiteY4" fmla="*/ 300807 h 300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65585" h="300807">
                <a:moveTo>
                  <a:pt x="0" y="300807"/>
                </a:moveTo>
                <a:lnTo>
                  <a:pt x="14242" y="0"/>
                </a:lnTo>
                <a:lnTo>
                  <a:pt x="1265585" y="919"/>
                </a:lnTo>
                <a:lnTo>
                  <a:pt x="1135421" y="300807"/>
                </a:lnTo>
                <a:lnTo>
                  <a:pt x="0" y="300807"/>
                </a:lnTo>
                <a:close/>
              </a:path>
            </a:pathLst>
          </a:custGeom>
          <a:solidFill>
            <a:srgbClr val="D827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350">
              <a:solidFill>
                <a:prstClr val="white"/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28378"/>
            <a:ext cx="7886700" cy="494858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33321" y="6473091"/>
            <a:ext cx="2057400" cy="365125"/>
          </a:xfrm>
        </p:spPr>
        <p:txBody>
          <a:bodyPr/>
          <a:lstStyle>
            <a:lvl1pPr algn="ctr"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2173BFC9-37BC-400D-AD1A-8548763EB8E9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  <p:grpSp>
        <p:nvGrpSpPr>
          <p:cNvPr id="11" name="群組 10"/>
          <p:cNvGrpSpPr/>
          <p:nvPr/>
        </p:nvGrpSpPr>
        <p:grpSpPr>
          <a:xfrm>
            <a:off x="-277906" y="-71718"/>
            <a:ext cx="9944910" cy="968189"/>
            <a:chOff x="-277906" y="-71718"/>
            <a:chExt cx="9944910" cy="968189"/>
          </a:xfrm>
        </p:grpSpPr>
        <p:sp>
          <p:nvSpPr>
            <p:cNvPr id="12" name="矩形 11"/>
            <p:cNvSpPr/>
            <p:nvPr/>
          </p:nvSpPr>
          <p:spPr>
            <a:xfrm>
              <a:off x="-277906" y="-71718"/>
              <a:ext cx="9944910" cy="968189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2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Rectangle 3"/>
            <p:cNvSpPr txBox="1">
              <a:spLocks noChangeArrowheads="1"/>
            </p:cNvSpPr>
            <p:nvPr/>
          </p:nvSpPr>
          <p:spPr bwMode="auto">
            <a:xfrm>
              <a:off x="439034" y="260189"/>
              <a:ext cx="2971480" cy="45429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lvl1pPr algn="ctr">
                <a:spcBef>
                  <a:spcPct val="0"/>
                </a:spcBef>
                <a:buNone/>
                <a:defRPr lang="ko-KR" altLang="en-US" sz="4400" b="1" baseline="0" dirty="0">
                  <a:solidFill>
                    <a:schemeClr val="bg1"/>
                  </a:solidFill>
                  <a:effectLst>
                    <a:outerShdw blurRad="12700" dist="25400" dir="5400000" algn="t" rotWithShape="0">
                      <a:prstClr val="black">
                        <a:alpha val="50000"/>
                      </a:prstClr>
                    </a:outerShdw>
                  </a:effectLst>
                  <a:latin typeface="Tahoma" pitchFamily="34" charset="0"/>
                  <a:ea typeface="Tahoma" pitchFamily="34" charset="0"/>
                  <a:cs typeface="Tahoma" pitchFamily="34" charset="0"/>
                </a:defRPr>
              </a:lvl1pPr>
            </a:lstStyle>
            <a:p>
              <a:pPr algn="l" fontAlgn="auto">
                <a:lnSpc>
                  <a:spcPct val="80000"/>
                </a:lnSpc>
                <a:spcAft>
                  <a:spcPts val="0"/>
                </a:spcAft>
                <a:defRPr/>
              </a:pPr>
              <a:endParaRPr lang="en-US" altLang="ko-KR" sz="3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" panose="020F0502020204030204" pitchFamily="34" charset="0"/>
              </a:endParaRPr>
            </a:p>
          </p:txBody>
        </p:sp>
        <p:grpSp>
          <p:nvGrpSpPr>
            <p:cNvPr id="14" name="群組 13"/>
            <p:cNvGrpSpPr/>
            <p:nvPr/>
          </p:nvGrpSpPr>
          <p:grpSpPr>
            <a:xfrm>
              <a:off x="0" y="-71718"/>
              <a:ext cx="304800" cy="968189"/>
              <a:chOff x="0" y="0"/>
              <a:chExt cx="304800" cy="806824"/>
            </a:xfrm>
          </p:grpSpPr>
          <p:sp>
            <p:nvSpPr>
              <p:cNvPr id="15" name="矩形 14"/>
              <p:cNvSpPr/>
              <p:nvPr/>
            </p:nvSpPr>
            <p:spPr>
              <a:xfrm>
                <a:off x="0" y="0"/>
                <a:ext cx="143435" cy="806824"/>
              </a:xfrm>
              <a:prstGeom prst="rect">
                <a:avLst/>
              </a:prstGeom>
              <a:solidFill>
                <a:srgbClr val="D8270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89648" y="0"/>
                <a:ext cx="125504" cy="806824"/>
              </a:xfrm>
              <a:prstGeom prst="rect">
                <a:avLst/>
              </a:prstGeom>
              <a:solidFill>
                <a:srgbClr val="58627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7" name="矩形 16"/>
              <p:cNvSpPr/>
              <p:nvPr/>
            </p:nvSpPr>
            <p:spPr>
              <a:xfrm>
                <a:off x="184098" y="0"/>
                <a:ext cx="120702" cy="806824"/>
              </a:xfrm>
              <a:prstGeom prst="rect">
                <a:avLst/>
              </a:prstGeom>
              <a:solidFill>
                <a:srgbClr val="00AB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8854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400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C64BCCB-ADEB-4518-A4EE-F2D81D870D1D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8227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C64BCCB-ADEB-4518-A4EE-F2D81D870D1D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6563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C64BCCB-ADEB-4518-A4EE-F2D81D870D1D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2448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5"/>
          <p:cNvSpPr txBox="1">
            <a:spLocks/>
          </p:cNvSpPr>
          <p:nvPr/>
        </p:nvSpPr>
        <p:spPr>
          <a:xfrm>
            <a:off x="7582989" y="642320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2173BFC9-37BC-400D-AD1A-8548763EB8E9}" type="slidenum">
              <a:rPr lang="ko-KR" altLang="en-US" smtClean="0">
                <a:solidFill>
                  <a:srgbClr val="3F3F3F"/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srgbClr val="3F3F3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7144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C64BCCB-ADEB-4518-A4EE-F2D81D870D1D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3985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C64BCCB-ADEB-4518-A4EE-F2D81D870D1D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4556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16"/>
          <p:cNvSpPr/>
          <p:nvPr/>
        </p:nvSpPr>
        <p:spPr>
          <a:xfrm>
            <a:off x="-145426" y="6550025"/>
            <a:ext cx="8335736" cy="211259"/>
          </a:xfrm>
          <a:custGeom>
            <a:avLst/>
            <a:gdLst>
              <a:gd name="connsiteX0" fmla="*/ 0 w 11114314"/>
              <a:gd name="connsiteY0" fmla="*/ 0 h 228600"/>
              <a:gd name="connsiteX1" fmla="*/ 11114314 w 11114314"/>
              <a:gd name="connsiteY1" fmla="*/ 0 h 228600"/>
              <a:gd name="connsiteX2" fmla="*/ 11114314 w 11114314"/>
              <a:gd name="connsiteY2" fmla="*/ 228600 h 228600"/>
              <a:gd name="connsiteX3" fmla="*/ 0 w 11114314"/>
              <a:gd name="connsiteY3" fmla="*/ 228600 h 228600"/>
              <a:gd name="connsiteX4" fmla="*/ 0 w 11114314"/>
              <a:gd name="connsiteY4" fmla="*/ 0 h 228600"/>
              <a:gd name="connsiteX0" fmla="*/ 0 w 11114314"/>
              <a:gd name="connsiteY0" fmla="*/ 0 h 228600"/>
              <a:gd name="connsiteX1" fmla="*/ 10972800 w 11114314"/>
              <a:gd name="connsiteY1" fmla="*/ 0 h 228600"/>
              <a:gd name="connsiteX2" fmla="*/ 11114314 w 11114314"/>
              <a:gd name="connsiteY2" fmla="*/ 228600 h 228600"/>
              <a:gd name="connsiteX3" fmla="*/ 0 w 11114314"/>
              <a:gd name="connsiteY3" fmla="*/ 228600 h 228600"/>
              <a:gd name="connsiteX4" fmla="*/ 0 w 11114314"/>
              <a:gd name="connsiteY4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14314" h="228600">
                <a:moveTo>
                  <a:pt x="0" y="0"/>
                </a:moveTo>
                <a:lnTo>
                  <a:pt x="10972800" y="0"/>
                </a:lnTo>
                <a:lnTo>
                  <a:pt x="11114314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4154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350">
              <a:solidFill>
                <a:prstClr val="white"/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4" name="平行四邊形 20"/>
          <p:cNvSpPr/>
          <p:nvPr/>
        </p:nvSpPr>
        <p:spPr>
          <a:xfrm flipH="1">
            <a:off x="8161197" y="6550027"/>
            <a:ext cx="1001649" cy="211258"/>
          </a:xfrm>
          <a:custGeom>
            <a:avLst/>
            <a:gdLst>
              <a:gd name="connsiteX0" fmla="*/ 0 w 1215703"/>
              <a:gd name="connsiteY0" fmla="*/ 321127 h 321127"/>
              <a:gd name="connsiteX1" fmla="*/ 80282 w 1215703"/>
              <a:gd name="connsiteY1" fmla="*/ 0 h 321127"/>
              <a:gd name="connsiteX2" fmla="*/ 1215703 w 1215703"/>
              <a:gd name="connsiteY2" fmla="*/ 0 h 321127"/>
              <a:gd name="connsiteX3" fmla="*/ 1135421 w 1215703"/>
              <a:gd name="connsiteY3" fmla="*/ 321127 h 321127"/>
              <a:gd name="connsiteX4" fmla="*/ 0 w 1215703"/>
              <a:gd name="connsiteY4" fmla="*/ 321127 h 321127"/>
              <a:gd name="connsiteX0" fmla="*/ 0 w 1286823"/>
              <a:gd name="connsiteY0" fmla="*/ 321127 h 321127"/>
              <a:gd name="connsiteX1" fmla="*/ 80282 w 1286823"/>
              <a:gd name="connsiteY1" fmla="*/ 0 h 321127"/>
              <a:gd name="connsiteX2" fmla="*/ 1286823 w 1286823"/>
              <a:gd name="connsiteY2" fmla="*/ 15240 h 321127"/>
              <a:gd name="connsiteX3" fmla="*/ 1135421 w 1286823"/>
              <a:gd name="connsiteY3" fmla="*/ 321127 h 321127"/>
              <a:gd name="connsiteX4" fmla="*/ 0 w 1286823"/>
              <a:gd name="connsiteY4" fmla="*/ 321127 h 321127"/>
              <a:gd name="connsiteX0" fmla="*/ 0 w 1286823"/>
              <a:gd name="connsiteY0" fmla="*/ 305887 h 305887"/>
              <a:gd name="connsiteX1" fmla="*/ 14242 w 1286823"/>
              <a:gd name="connsiteY1" fmla="*/ 5080 h 305887"/>
              <a:gd name="connsiteX2" fmla="*/ 1286823 w 1286823"/>
              <a:gd name="connsiteY2" fmla="*/ 0 h 305887"/>
              <a:gd name="connsiteX3" fmla="*/ 1135421 w 1286823"/>
              <a:gd name="connsiteY3" fmla="*/ 305887 h 305887"/>
              <a:gd name="connsiteX4" fmla="*/ 0 w 1286823"/>
              <a:gd name="connsiteY4" fmla="*/ 305887 h 305887"/>
              <a:gd name="connsiteX0" fmla="*/ 0 w 1257090"/>
              <a:gd name="connsiteY0" fmla="*/ 300808 h 300808"/>
              <a:gd name="connsiteX1" fmla="*/ 14242 w 1257090"/>
              <a:gd name="connsiteY1" fmla="*/ 1 h 300808"/>
              <a:gd name="connsiteX2" fmla="*/ 1257090 w 1257090"/>
              <a:gd name="connsiteY2" fmla="*/ 920 h 300808"/>
              <a:gd name="connsiteX3" fmla="*/ 1135421 w 1257090"/>
              <a:gd name="connsiteY3" fmla="*/ 300808 h 300808"/>
              <a:gd name="connsiteX4" fmla="*/ 0 w 1257090"/>
              <a:gd name="connsiteY4" fmla="*/ 300808 h 300808"/>
              <a:gd name="connsiteX0" fmla="*/ 0 w 1265585"/>
              <a:gd name="connsiteY0" fmla="*/ 300807 h 300807"/>
              <a:gd name="connsiteX1" fmla="*/ 14242 w 1265585"/>
              <a:gd name="connsiteY1" fmla="*/ 0 h 300807"/>
              <a:gd name="connsiteX2" fmla="*/ 1265585 w 1265585"/>
              <a:gd name="connsiteY2" fmla="*/ 919 h 300807"/>
              <a:gd name="connsiteX3" fmla="*/ 1135421 w 1265585"/>
              <a:gd name="connsiteY3" fmla="*/ 300807 h 300807"/>
              <a:gd name="connsiteX4" fmla="*/ 0 w 1265585"/>
              <a:gd name="connsiteY4" fmla="*/ 300807 h 300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65585" h="300807">
                <a:moveTo>
                  <a:pt x="0" y="300807"/>
                </a:moveTo>
                <a:lnTo>
                  <a:pt x="14242" y="0"/>
                </a:lnTo>
                <a:lnTo>
                  <a:pt x="1265585" y="919"/>
                </a:lnTo>
                <a:lnTo>
                  <a:pt x="1135421" y="300807"/>
                </a:lnTo>
                <a:lnTo>
                  <a:pt x="0" y="300807"/>
                </a:lnTo>
                <a:close/>
              </a:path>
            </a:pathLst>
          </a:custGeom>
          <a:solidFill>
            <a:srgbClr val="D827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350">
              <a:solidFill>
                <a:prstClr val="white"/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2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7633321" y="6473091"/>
            <a:ext cx="2057400" cy="365125"/>
          </a:xfrm>
        </p:spPr>
        <p:txBody>
          <a:bodyPr/>
          <a:lstStyle>
            <a:lvl1pPr algn="ctr"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2173BFC9-37BC-400D-AD1A-8548763EB8E9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0491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D9CD-7DF9-4044-9F32-0D9CBBCB6C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8726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1"/>
          </a:fgClr>
          <a:bgClr>
            <a:srgbClr val="F7F7F7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C64BCCB-ADEB-4518-A4EE-F2D81D870D1D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3266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5" r:id="rId10"/>
    <p:sldLayoutId id="2147483676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/>
          <p:cNvGrpSpPr/>
          <p:nvPr/>
        </p:nvGrpSpPr>
        <p:grpSpPr>
          <a:xfrm>
            <a:off x="-446690" y="-241738"/>
            <a:ext cx="10037380" cy="4353693"/>
            <a:chOff x="-446690" y="-241738"/>
            <a:chExt cx="10037380" cy="4353693"/>
          </a:xfrm>
        </p:grpSpPr>
        <p:pic>
          <p:nvPicPr>
            <p:cNvPr id="10" name="图片占位符 34"/>
            <p:cNvPicPr>
              <a:picLocks noChangeAspect="1"/>
            </p:cNvPicPr>
            <p:nvPr/>
          </p:nvPicPr>
          <p:blipFill>
            <a:blip r:embed="rId3">
              <a:grayscl/>
            </a:blip>
            <a:srcRect t="13640" b="13640"/>
            <a:stretch>
              <a:fillRect/>
            </a:stretch>
          </p:blipFill>
          <p:spPr>
            <a:xfrm>
              <a:off x="0" y="-1"/>
              <a:ext cx="9144000" cy="4111953"/>
            </a:xfrm>
            <a:custGeom>
              <a:avLst/>
              <a:gdLst>
                <a:gd name="connsiteX0" fmla="*/ 0 w 10801351"/>
                <a:gd name="connsiteY0" fmla="*/ 0 h 3177153"/>
                <a:gd name="connsiteX1" fmla="*/ 10801351 w 10801351"/>
                <a:gd name="connsiteY1" fmla="*/ 0 h 3177153"/>
                <a:gd name="connsiteX2" fmla="*/ 10801351 w 10801351"/>
                <a:gd name="connsiteY2" fmla="*/ 3177153 h 3177153"/>
                <a:gd name="connsiteX3" fmla="*/ 0 w 10801351"/>
                <a:gd name="connsiteY3" fmla="*/ 3177153 h 3177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01351" h="3177153">
                  <a:moveTo>
                    <a:pt x="0" y="0"/>
                  </a:moveTo>
                  <a:lnTo>
                    <a:pt x="10801351" y="0"/>
                  </a:lnTo>
                  <a:lnTo>
                    <a:pt x="10801351" y="3177153"/>
                  </a:lnTo>
                  <a:lnTo>
                    <a:pt x="0" y="3177153"/>
                  </a:lnTo>
                  <a:close/>
                </a:path>
              </a:pathLst>
            </a:custGeom>
          </p:spPr>
        </p:pic>
        <p:sp>
          <p:nvSpPr>
            <p:cNvPr id="11" name="矩形 10"/>
            <p:cNvSpPr/>
            <p:nvPr/>
          </p:nvSpPr>
          <p:spPr>
            <a:xfrm>
              <a:off x="-446690" y="-241738"/>
              <a:ext cx="10037380" cy="4353693"/>
            </a:xfrm>
            <a:prstGeom prst="rect">
              <a:avLst/>
            </a:prstGeom>
            <a:solidFill>
              <a:srgbClr val="00000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E8D7DC77-0CD7-4409-983F-1FFD6238EF54}"/>
              </a:ext>
            </a:extLst>
          </p:cNvPr>
          <p:cNvSpPr/>
          <p:nvPr/>
        </p:nvSpPr>
        <p:spPr>
          <a:xfrm>
            <a:off x="1190593" y="3123859"/>
            <a:ext cx="6762813" cy="2153218"/>
          </a:xfrm>
          <a:prstGeom prst="rect">
            <a:avLst/>
          </a:prstGeom>
          <a:ln w="5715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TW" sz="3600" b="1" dirty="0">
                <a:solidFill>
                  <a:srgbClr val="FFFFFF"/>
                </a:solidFill>
              </a:rPr>
              <a:t>Quality Specifications and </a:t>
            </a:r>
          </a:p>
          <a:p>
            <a:pPr>
              <a:lnSpc>
                <a:spcPct val="200000"/>
              </a:lnSpc>
            </a:pPr>
            <a:r>
              <a:rPr lang="en-US" altLang="zh-TW" sz="3600" b="1" dirty="0"/>
              <a:t>Process Capability Analysis with R </a:t>
            </a:r>
            <a:endParaRPr lang="zh-TW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4032668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群組 19"/>
          <p:cNvGrpSpPr/>
          <p:nvPr/>
        </p:nvGrpSpPr>
        <p:grpSpPr>
          <a:xfrm>
            <a:off x="-27760" y="441422"/>
            <a:ext cx="9144793" cy="6541398"/>
            <a:chOff x="-27760" y="441422"/>
            <a:chExt cx="9144793" cy="6541398"/>
          </a:xfrm>
        </p:grpSpPr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7760" y="3142007"/>
              <a:ext cx="9144793" cy="3840813"/>
            </a:xfrm>
            <a:prstGeom prst="rect">
              <a:avLst/>
            </a:prstGeom>
            <a:effectLst>
              <a:innerShdw blurRad="114300">
                <a:prstClr val="black"/>
              </a:innerShdw>
            </a:effectLst>
          </p:spPr>
        </p:pic>
        <p:sp>
          <p:nvSpPr>
            <p:cNvPr id="14" name="等腰三角形 13"/>
            <p:cNvSpPr/>
            <p:nvPr/>
          </p:nvSpPr>
          <p:spPr>
            <a:xfrm rot="5400000">
              <a:off x="-207760" y="621422"/>
              <a:ext cx="1260000" cy="900000"/>
            </a:xfrm>
            <a:prstGeom prst="triangle">
              <a:avLst/>
            </a:prstGeom>
            <a:solidFill>
              <a:srgbClr val="E2231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zh-CN" altLang="en-US" sz="135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</p:grpSp>
      <p:sp>
        <p:nvSpPr>
          <p:cNvPr id="10" name="等腰三角形 9"/>
          <p:cNvSpPr/>
          <p:nvPr/>
        </p:nvSpPr>
        <p:spPr>
          <a:xfrm rot="16200000" flipH="1">
            <a:off x="8479841" y="2064156"/>
            <a:ext cx="761003" cy="656036"/>
          </a:xfrm>
          <a:prstGeom prst="triangle">
            <a:avLst>
              <a:gd name="adj" fmla="val 63472"/>
            </a:avLst>
          </a:prstGeom>
          <a:solidFill>
            <a:srgbClr val="58627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1" name="文本框 36"/>
          <p:cNvSpPr txBox="1"/>
          <p:nvPr/>
        </p:nvSpPr>
        <p:spPr>
          <a:xfrm>
            <a:off x="6542716" y="3142007"/>
            <a:ext cx="1989608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685800"/>
            <a:r>
              <a:rPr lang="en-US" altLang="zh-TW" sz="2800" dirty="0"/>
              <a:t>Introduction</a:t>
            </a:r>
            <a:endParaRPr lang="en-US" altLang="zh-CN" sz="2000" b="1" dirty="0">
              <a:solidFill>
                <a:srgbClr val="000000">
                  <a:lumMod val="75000"/>
                  <a:lumOff val="25000"/>
                </a:srgbClr>
              </a:solidFill>
              <a:latin typeface="Arial"/>
              <a:ea typeface="微软雅黑"/>
            </a:endParaRPr>
          </a:p>
        </p:txBody>
      </p:sp>
      <p:sp>
        <p:nvSpPr>
          <p:cNvPr id="12" name="文本框 37"/>
          <p:cNvSpPr txBox="1"/>
          <p:nvPr/>
        </p:nvSpPr>
        <p:spPr>
          <a:xfrm>
            <a:off x="4088892" y="2126344"/>
            <a:ext cx="4245073" cy="1015663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r" defTabSz="685800"/>
            <a:r>
              <a:rPr lang="en-US" altLang="zh-CN" sz="6000" b="1" dirty="0">
                <a:solidFill>
                  <a:srgbClr val="D8270A"/>
                </a:solidFill>
                <a:latin typeface="Arial"/>
                <a:ea typeface="微软雅黑"/>
              </a:rPr>
              <a:t>Section 8.1</a:t>
            </a:r>
            <a:endParaRPr lang="zh-CN" altLang="en-US" sz="6000" b="1" dirty="0">
              <a:solidFill>
                <a:srgbClr val="D8270A"/>
              </a:solidFill>
              <a:latin typeface="Arial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61430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D793A5EB-826D-4D79-96F4-9FB15ABC7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Purpose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dirty="0"/>
              <a:t>Provide some guidelines and resources to establish such specifications.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dirty="0"/>
              <a:t>How to measure and analyze the capability of a process to fulfill them.</a:t>
            </a:r>
          </a:p>
          <a:p>
            <a:r>
              <a:rPr lang="en-US" altLang="zh-TW" dirty="0"/>
              <a:t>Notice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dirty="0"/>
              <a:t>Making clear the difference between Specification Limits and Control Limits.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BCFA371-D537-4625-9693-89C4BD58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73BFC9-37BC-400D-AD1A-8548763EB8E9}" type="slidenum">
              <a:rPr lang="ko-KR" altLang="en-US" smtClean="0"/>
              <a:pPr>
                <a:defRPr/>
              </a:pPr>
              <a:t>3</a:t>
            </a:fld>
            <a:endParaRPr lang="ko-KR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F5DF253-78EE-42EB-BB95-577C2D72D6FC}"/>
              </a:ext>
            </a:extLst>
          </p:cNvPr>
          <p:cNvSpPr txBox="1"/>
          <p:nvPr/>
        </p:nvSpPr>
        <p:spPr>
          <a:xfrm>
            <a:off x="628650" y="222491"/>
            <a:ext cx="6560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+mj-ea"/>
                <a:ea typeface="+mj-ea"/>
              </a:rPr>
              <a:t>8.1</a:t>
            </a:r>
            <a:r>
              <a:rPr lang="zh-TW" altLang="en-US" sz="3200" dirty="0">
                <a:latin typeface="+mj-ea"/>
                <a:ea typeface="+mj-ea"/>
              </a:rPr>
              <a:t> </a:t>
            </a:r>
            <a:r>
              <a:rPr lang="en-US" altLang="zh-TW" sz="3200" dirty="0">
                <a:latin typeface="+mj-ea"/>
                <a:ea typeface="+mj-ea"/>
              </a:rPr>
              <a:t>Introduction</a:t>
            </a:r>
            <a:endParaRPr lang="zh-TW" altLang="en-US" sz="3200" dirty="0">
              <a:latin typeface="+mj-ea"/>
              <a:ea typeface="+mj-ea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A8E39FA-F3CB-40CE-B159-24E43F1B6E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7952570"/>
              </p:ext>
            </p:extLst>
          </p:nvPr>
        </p:nvGraphicFramePr>
        <p:xfrm>
          <a:off x="1524000" y="4410657"/>
          <a:ext cx="6096000" cy="10109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12561721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3468702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Specification Limits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Control Limits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8829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u="none" strike="noStrike" kern="1200" baseline="0" dirty="0"/>
                        <a:t>Voice of the Customer (</a:t>
                      </a:r>
                      <a:r>
                        <a:rPr lang="en-US" altLang="zh-TW" sz="1800" u="none" strike="noStrike" kern="1200" baseline="0" dirty="0" err="1"/>
                        <a:t>VoC</a:t>
                      </a:r>
                      <a:r>
                        <a:rPr lang="en-US" altLang="zh-TW" sz="1800" u="none" strike="noStrike" kern="1200" baseline="0" dirty="0"/>
                        <a:t>)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u="none" strike="noStrike" kern="1200" baseline="0" dirty="0"/>
                        <a:t>Control Limits</a:t>
                      </a:r>
                    </a:p>
                    <a:p>
                      <a:pPr algn="ctr"/>
                      <a:r>
                        <a:rPr lang="en-US" altLang="zh-TW" sz="1800" u="none" strike="noStrike" kern="1200" baseline="0" dirty="0"/>
                        <a:t>Voice of the process (</a:t>
                      </a:r>
                      <a:r>
                        <a:rPr lang="en-US" altLang="zh-TW" sz="1800" u="none" strike="noStrike" kern="1200" baseline="0" dirty="0" err="1"/>
                        <a:t>VoP</a:t>
                      </a:r>
                      <a:r>
                        <a:rPr lang="en-US" altLang="zh-TW" sz="1800" u="none" strike="noStrike" kern="1200" baseline="0" dirty="0"/>
                        <a:t>)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25371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9217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群組 19"/>
          <p:cNvGrpSpPr/>
          <p:nvPr/>
        </p:nvGrpSpPr>
        <p:grpSpPr>
          <a:xfrm>
            <a:off x="-27760" y="441422"/>
            <a:ext cx="9144793" cy="6541398"/>
            <a:chOff x="-27760" y="441422"/>
            <a:chExt cx="9144793" cy="6541398"/>
          </a:xfrm>
        </p:grpSpPr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7760" y="3142007"/>
              <a:ext cx="9144793" cy="3840813"/>
            </a:xfrm>
            <a:prstGeom prst="rect">
              <a:avLst/>
            </a:prstGeom>
            <a:effectLst>
              <a:innerShdw blurRad="114300">
                <a:prstClr val="black"/>
              </a:innerShdw>
            </a:effectLst>
          </p:spPr>
        </p:pic>
        <p:sp>
          <p:nvSpPr>
            <p:cNvPr id="14" name="等腰三角形 13"/>
            <p:cNvSpPr/>
            <p:nvPr/>
          </p:nvSpPr>
          <p:spPr>
            <a:xfrm rot="5400000">
              <a:off x="-207760" y="621422"/>
              <a:ext cx="1260000" cy="900000"/>
            </a:xfrm>
            <a:prstGeom prst="triangle">
              <a:avLst/>
            </a:prstGeom>
            <a:solidFill>
              <a:srgbClr val="E2231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zh-CN" altLang="en-US" sz="135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</p:grpSp>
      <p:sp>
        <p:nvSpPr>
          <p:cNvPr id="10" name="等腰三角形 9"/>
          <p:cNvSpPr/>
          <p:nvPr/>
        </p:nvSpPr>
        <p:spPr>
          <a:xfrm rot="16200000" flipH="1">
            <a:off x="8479841" y="2064156"/>
            <a:ext cx="761003" cy="656036"/>
          </a:xfrm>
          <a:prstGeom prst="triangle">
            <a:avLst>
              <a:gd name="adj" fmla="val 63472"/>
            </a:avLst>
          </a:prstGeom>
          <a:solidFill>
            <a:srgbClr val="58627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1" name="文本框 36"/>
          <p:cNvSpPr txBox="1"/>
          <p:nvPr/>
        </p:nvSpPr>
        <p:spPr>
          <a:xfrm>
            <a:off x="2366261" y="3142007"/>
            <a:ext cx="6494081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685800"/>
            <a:r>
              <a:rPr lang="en-US" altLang="zh-TW" sz="2800" dirty="0"/>
              <a:t>Tolerance Limits and Specifications Design</a:t>
            </a:r>
            <a:endParaRPr lang="en-US" altLang="zh-CN" sz="2000" b="1" dirty="0">
              <a:solidFill>
                <a:srgbClr val="000000">
                  <a:lumMod val="75000"/>
                  <a:lumOff val="25000"/>
                </a:srgbClr>
              </a:solidFill>
              <a:latin typeface="Arial"/>
              <a:ea typeface="微软雅黑"/>
            </a:endParaRPr>
          </a:p>
        </p:txBody>
      </p:sp>
      <p:sp>
        <p:nvSpPr>
          <p:cNvPr id="12" name="文本框 37"/>
          <p:cNvSpPr txBox="1"/>
          <p:nvPr/>
        </p:nvSpPr>
        <p:spPr>
          <a:xfrm>
            <a:off x="4088892" y="2126344"/>
            <a:ext cx="4245073" cy="1015663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r" defTabSz="685800"/>
            <a:r>
              <a:rPr lang="en-US" altLang="zh-CN" sz="6000" b="1" dirty="0">
                <a:solidFill>
                  <a:srgbClr val="D8270A"/>
                </a:solidFill>
                <a:latin typeface="Arial"/>
                <a:ea typeface="微软雅黑"/>
              </a:rPr>
              <a:t>Section 8.2</a:t>
            </a:r>
            <a:endParaRPr lang="zh-CN" altLang="en-US" sz="6000" b="1" dirty="0">
              <a:solidFill>
                <a:srgbClr val="D8270A"/>
              </a:solidFill>
              <a:latin typeface="Arial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325456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C14843CC-27B8-44A3-AE74-E6A6EC8F9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zh-TW" dirty="0">
                <a:latin typeface="+mj-ea"/>
              </a:rPr>
              <a:t>The Voice of the Customer (</a:t>
            </a:r>
            <a:r>
              <a:rPr lang="en-US" altLang="zh-TW" dirty="0" err="1">
                <a:latin typeface="+mj-ea"/>
              </a:rPr>
              <a:t>VoC</a:t>
            </a:r>
            <a:r>
              <a:rPr lang="en-US" altLang="zh-TW" dirty="0">
                <a:latin typeface="+mj-ea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zh-TW" dirty="0">
                <a:latin typeface="+mj-ea"/>
              </a:rPr>
              <a:t>Specification Limit </a:t>
            </a:r>
          </a:p>
          <a:p>
            <a:pPr lvl="1">
              <a:lnSpc>
                <a:spcPct val="150000"/>
              </a:lnSpc>
            </a:pPr>
            <a:r>
              <a:rPr lang="en-US" altLang="zh-TW" dirty="0">
                <a:latin typeface="+mj-ea"/>
              </a:rPr>
              <a:t>Upper Specification Limit (USL) &amp;                   Lower Specification Limit (LSL)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latin typeface="+mj-ea"/>
              </a:rPr>
              <a:t>Three categories </a:t>
            </a:r>
          </a:p>
          <a:p>
            <a:pPr lvl="1">
              <a:lnSpc>
                <a:spcPct val="150000"/>
              </a:lnSpc>
            </a:pPr>
            <a:r>
              <a:rPr lang="en-US" altLang="zh-TW" dirty="0">
                <a:latin typeface="+mj-ea"/>
              </a:rPr>
              <a:t>Smaller- the- better : USL</a:t>
            </a:r>
          </a:p>
          <a:p>
            <a:pPr lvl="1">
              <a:lnSpc>
                <a:spcPct val="150000"/>
              </a:lnSpc>
            </a:pPr>
            <a:r>
              <a:rPr lang="en-US" altLang="zh-TW" dirty="0">
                <a:latin typeface="+mj-ea"/>
              </a:rPr>
              <a:t>Larger- the- better : LSL</a:t>
            </a:r>
          </a:p>
          <a:p>
            <a:pPr lvl="1">
              <a:lnSpc>
                <a:spcPct val="150000"/>
              </a:lnSpc>
            </a:pPr>
            <a:r>
              <a:rPr lang="en-US" altLang="zh-TW" dirty="0">
                <a:latin typeface="+mj-ea"/>
              </a:rPr>
              <a:t>Nominal- is- best : USL &amp; LSL</a:t>
            </a:r>
          </a:p>
          <a:p>
            <a:pPr lvl="1">
              <a:lnSpc>
                <a:spcPct val="150000"/>
              </a:lnSpc>
            </a:pPr>
            <a:endParaRPr lang="zh-TW" altLang="en-US" dirty="0">
              <a:latin typeface="+mj-ea"/>
            </a:endParaRPr>
          </a:p>
          <a:p>
            <a:pPr>
              <a:lnSpc>
                <a:spcPct val="150000"/>
              </a:lnSpc>
            </a:pP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ADB8035-1BA5-435F-A310-EC9F8ABFC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73BFC9-37BC-400D-AD1A-8548763EB8E9}" type="slidenum">
              <a:rPr lang="ko-KR" altLang="en-US" smtClean="0"/>
              <a:pPr>
                <a:defRPr/>
              </a:pPr>
              <a:t>5</a:t>
            </a:fld>
            <a:endParaRPr lang="ko-KR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24F721B-862B-48A2-85C8-64198738C25E}"/>
              </a:ext>
            </a:extLst>
          </p:cNvPr>
          <p:cNvSpPr txBox="1"/>
          <p:nvPr/>
        </p:nvSpPr>
        <p:spPr>
          <a:xfrm>
            <a:off x="628650" y="222491"/>
            <a:ext cx="6560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+mj-ea"/>
                <a:ea typeface="+mj-ea"/>
              </a:rPr>
              <a:t>8.2.1 The Voice of the Customer </a:t>
            </a:r>
            <a:endParaRPr lang="zh-TW" altLang="en-US" sz="32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354800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內容版面配置區 1">
                <a:extLst>
                  <a:ext uri="{FF2B5EF4-FFF2-40B4-BE49-F238E27FC236}">
                    <a16:creationId xmlns:a16="http://schemas.microsoft.com/office/drawing/2014/main" id="{F2073A93-ECC2-4F8B-804C-2268A52C97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altLang="zh-TW" dirty="0"/>
                  <a:t>Taguchi Loss Function : </a:t>
                </a:r>
              </a:p>
              <a:p>
                <a:pPr lvl="1"/>
                <a:r>
                  <a:rPr lang="en-US" altLang="zh-TW" dirty="0"/>
                  <a:t>An economic approach can be followed in order to take in to account the producer’s and the customer’s perception of loss due to poor quality.</a:t>
                </a:r>
              </a:p>
              <a:p>
                <a:pPr lvl="1"/>
                <a:endParaRPr lang="en-US" altLang="zh-TW" dirty="0"/>
              </a:p>
              <a:p>
                <a:pPr lvl="1"/>
                <a:endParaRPr lang="en-US" altLang="zh-TW" dirty="0"/>
              </a:p>
              <a:p>
                <a:pPr lvl="1"/>
                <a:endParaRPr lang="en-US" altLang="zh-TW" dirty="0"/>
              </a:p>
              <a:p>
                <a:pPr lvl="1"/>
                <a:endParaRPr lang="en-US" altLang="zh-TW" dirty="0"/>
              </a:p>
              <a:p>
                <a:pPr marL="457200" lvl="1" indent="0">
                  <a:buNone/>
                </a:pPr>
                <a:endParaRPr lang="en-US" altLang="zh-TW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TW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TW" dirty="0"/>
                  <a:t> : Target Value </a:t>
                </a:r>
              </a:p>
              <a:p>
                <a:pPr lvl="1"/>
                <a:r>
                  <a:rPr lang="en-US" altLang="zh-TW" dirty="0"/>
                  <a:t>Y : Quality Characteristic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dirty="0" smtClean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zh-TW" dirty="0"/>
                  <a:t> : Tolerance for the characteristic Y from the point of view of the customer.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altLang="zh-TW" dirty="0"/>
                  <a:t> : The loss for the customer. </a:t>
                </a:r>
              </a:p>
              <a:p>
                <a:pPr lvl="1"/>
                <a:endParaRPr lang="en-US" altLang="zh-TW" dirty="0"/>
              </a:p>
            </p:txBody>
          </p:sp>
        </mc:Choice>
        <mc:Fallback xmlns="">
          <p:sp>
            <p:nvSpPr>
              <p:cNvPr id="2" name="內容版面配置區 1">
                <a:extLst>
                  <a:ext uri="{FF2B5EF4-FFF2-40B4-BE49-F238E27FC236}">
                    <a16:creationId xmlns:a16="http://schemas.microsoft.com/office/drawing/2014/main" id="{F2073A93-ECC2-4F8B-804C-2268A52C97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2836" b="-148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3A9E686-13AB-4F64-BB36-84783FF74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73BFC9-37BC-400D-AD1A-8548763EB8E9}" type="slidenum">
              <a:rPr lang="ko-KR" altLang="en-US" smtClean="0"/>
              <a:pPr>
                <a:defRPr/>
              </a:pPr>
              <a:t>6</a:t>
            </a:fld>
            <a:endParaRPr lang="ko-KR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A648052E-EB9C-4CB8-8BA8-B752CB8EC2D5}"/>
              </a:ext>
            </a:extLst>
          </p:cNvPr>
          <p:cNvSpPr txBox="1"/>
          <p:nvPr/>
        </p:nvSpPr>
        <p:spPr>
          <a:xfrm>
            <a:off x="628650" y="222491"/>
            <a:ext cx="6560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+mj-ea"/>
                <a:ea typeface="+mj-ea"/>
              </a:rPr>
              <a:t>8.2.2 Process Tolerance </a:t>
            </a:r>
            <a:endParaRPr lang="zh-TW" altLang="en-US" sz="3200" dirty="0">
              <a:latin typeface="+mj-ea"/>
              <a:ea typeface="+mj-ea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0AD9107-6798-4F8A-BC6B-45ACC9314F8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736"/>
          <a:stretch/>
        </p:blipFill>
        <p:spPr>
          <a:xfrm>
            <a:off x="1292852" y="2805112"/>
            <a:ext cx="3744101" cy="1247775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62947801-DC64-4649-9176-A9003B9F14D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8476"/>
          <a:stretch/>
        </p:blipFill>
        <p:spPr>
          <a:xfrm>
            <a:off x="5933631" y="2805112"/>
            <a:ext cx="1685040" cy="164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97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BBFBC62F-5849-4395-B8C9-B700C7E6A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85CC203-513E-48B6-A4C0-EF6A79760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73BFC9-37BC-400D-AD1A-8548763EB8E9}" type="slidenum">
              <a:rPr lang="ko-KR" altLang="en-US" smtClean="0"/>
              <a:pPr>
                <a:defRPr/>
              </a:pPr>
              <a:t>7</a:t>
            </a:fld>
            <a:endParaRPr lang="ko-KR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49B591E-034F-4BA0-B56D-C4A2F57AFD25}"/>
              </a:ext>
            </a:extLst>
          </p:cNvPr>
          <p:cNvSpPr txBox="1"/>
          <p:nvPr/>
        </p:nvSpPr>
        <p:spPr>
          <a:xfrm>
            <a:off x="628650" y="222491"/>
            <a:ext cx="6560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+mj-ea"/>
                <a:ea typeface="+mj-ea"/>
              </a:rPr>
              <a:t>Process Tolerance </a:t>
            </a:r>
            <a:endParaRPr lang="zh-TW" altLang="en-US" sz="3200" dirty="0">
              <a:latin typeface="+mj-ea"/>
              <a:ea typeface="+mj-ea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60ECDA6-AC47-4244-93CD-DE90338DC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49" y="1529500"/>
            <a:ext cx="6251944" cy="4647463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8ACE014D-4F25-488A-BA1F-5CCBB97B3431}"/>
              </a:ext>
            </a:extLst>
          </p:cNvPr>
          <p:cNvSpPr txBox="1"/>
          <p:nvPr/>
        </p:nvSpPr>
        <p:spPr>
          <a:xfrm>
            <a:off x="4512191" y="1378938"/>
            <a:ext cx="4003159" cy="646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dirty="0"/>
              <a:t>The cost of poor quality is usually higher for the customer than for the producer.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4134AC7-B243-4285-ABC9-7A913CD9D574}"/>
              </a:ext>
            </a:extLst>
          </p:cNvPr>
          <p:cNvSpPr txBox="1"/>
          <p:nvPr/>
        </p:nvSpPr>
        <p:spPr>
          <a:xfrm>
            <a:off x="4512190" y="2161351"/>
            <a:ext cx="4003159" cy="9233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dirty="0"/>
              <a:t>The manufacturing specification limit</a:t>
            </a:r>
          </a:p>
          <a:p>
            <a:r>
              <a:rPr lang="en-US" altLang="zh-TW" dirty="0"/>
              <a:t>is lower than the customer specification limit.</a:t>
            </a:r>
            <a:endParaRPr lang="zh-TW" altLang="en-US" dirty="0"/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73E2A5C3-BF00-4CA7-A3BE-235848F9B8D8}"/>
              </a:ext>
            </a:extLst>
          </p:cNvPr>
          <p:cNvGrpSpPr/>
          <p:nvPr/>
        </p:nvGrpSpPr>
        <p:grpSpPr>
          <a:xfrm>
            <a:off x="6156251" y="3235243"/>
            <a:ext cx="2359098" cy="1059412"/>
            <a:chOff x="6156251" y="3806916"/>
            <a:chExt cx="2359098" cy="1059412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B39F00A2-0E3C-44AB-B1E4-A2D2B1555A66}"/>
                </a:ext>
              </a:extLst>
            </p:cNvPr>
            <p:cNvSpPr/>
            <p:nvPr/>
          </p:nvSpPr>
          <p:spPr>
            <a:xfrm>
              <a:off x="6156251" y="3806916"/>
              <a:ext cx="2359098" cy="1059412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866CF11E-BBAA-4C8C-BBD0-BD7452029A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48963" y="3874957"/>
              <a:ext cx="2173673" cy="923330"/>
            </a:xfrm>
            <a:prstGeom prst="rect">
              <a:avLst/>
            </a:prstGeom>
            <a:grpFill/>
          </p:spPr>
        </p:pic>
      </p:grpSp>
    </p:spTree>
    <p:extLst>
      <p:ext uri="{BB962C8B-B14F-4D97-AF65-F5344CB8AC3E}">
        <p14:creationId xmlns:p14="http://schemas.microsoft.com/office/powerpoint/2010/main" val="4149435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DD1E72E6-9866-48F4-ACBD-AF9047726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Package : </a:t>
            </a:r>
            <a:r>
              <a:rPr lang="en-US" altLang="zh-TW" dirty="0" err="1"/>
              <a:t>SixSigma</a:t>
            </a:r>
            <a:endParaRPr lang="en-US" altLang="zh-TW" dirty="0"/>
          </a:p>
          <a:p>
            <a:r>
              <a:rPr lang="en-US" altLang="zh-TW" dirty="0"/>
              <a:t>Data : ss.data.thickness2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6DAB129-BEB0-40B4-B2C3-EF3B6A7F0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73BFC9-37BC-400D-AD1A-8548763EB8E9}" type="slidenum">
              <a:rPr lang="ko-KR" altLang="en-US" smtClean="0"/>
              <a:pPr>
                <a:defRPr/>
              </a:pPr>
              <a:t>8</a:t>
            </a:fld>
            <a:endParaRPr lang="ko-KR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B89D4B7-DC4D-4602-B248-9F5D3F81D3D6}"/>
              </a:ext>
            </a:extLst>
          </p:cNvPr>
          <p:cNvSpPr txBox="1"/>
          <p:nvPr/>
        </p:nvSpPr>
        <p:spPr>
          <a:xfrm>
            <a:off x="628649" y="222491"/>
            <a:ext cx="70046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+mj-ea"/>
                <a:ea typeface="+mj-ea"/>
              </a:rPr>
              <a:t>Example 8.1 Metal plates thickness</a:t>
            </a:r>
            <a:endParaRPr lang="zh-TW" altLang="en-US" sz="3200" dirty="0">
              <a:latin typeface="+mj-ea"/>
              <a:ea typeface="+mj-ea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622CB33-9073-4956-813F-BBEBF9F438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4514" y="2319089"/>
            <a:ext cx="6554971" cy="3857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040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3B02C324-1966-4FE4-92CB-ABFCD08CAB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r="41304"/>
          <a:stretch/>
        </p:blipFill>
        <p:spPr>
          <a:xfrm>
            <a:off x="247872" y="1596908"/>
            <a:ext cx="4324128" cy="1123597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3062823F-5D14-4D35-853C-A6EB2BAAB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73BFC9-37BC-400D-AD1A-8548763EB8E9}" type="slidenum">
              <a:rPr lang="ko-KR" altLang="en-US" smtClean="0"/>
              <a:pPr>
                <a:defRPr/>
              </a:pPr>
              <a:t>9</a:t>
            </a:fld>
            <a:endParaRPr lang="ko-KR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5F09682-3A9D-473D-BD3C-EAA60BB378B3}"/>
              </a:ext>
            </a:extLst>
          </p:cNvPr>
          <p:cNvSpPr txBox="1"/>
          <p:nvPr/>
        </p:nvSpPr>
        <p:spPr>
          <a:xfrm>
            <a:off x="628649" y="222491"/>
            <a:ext cx="70046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+mj-ea"/>
                <a:ea typeface="+mj-ea"/>
              </a:rPr>
              <a:t>Visualization of all the data</a:t>
            </a:r>
            <a:endParaRPr lang="zh-TW" altLang="en-US" sz="3200" dirty="0">
              <a:latin typeface="+mj-ea"/>
              <a:ea typeface="+mj-ea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149705C-3555-4DED-AA2B-9EFFCBDB8E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596908"/>
            <a:ext cx="4343143" cy="4266948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542F3321-C61A-49DD-94AE-5B551A7FB3C2}"/>
              </a:ext>
            </a:extLst>
          </p:cNvPr>
          <p:cNvSpPr txBox="1"/>
          <p:nvPr/>
        </p:nvSpPr>
        <p:spPr>
          <a:xfrm>
            <a:off x="247872" y="4137496"/>
            <a:ext cx="4324128" cy="1237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Layout :  </a:t>
            </a:r>
          </a:p>
          <a:p>
            <a:r>
              <a:rPr lang="en-US" altLang="zh-TW" dirty="0"/>
              <a:t>one panel for each day and in this way we sequentially display the whole week in one row.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871007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內容版面配置區 1">
                <a:extLst>
                  <a:ext uri="{FF2B5EF4-FFF2-40B4-BE49-F238E27FC236}">
                    <a16:creationId xmlns:a16="http://schemas.microsoft.com/office/drawing/2014/main" id="{7D11A0B7-8BCF-4FE4-8628-9A23C28A7F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228378"/>
                <a:ext cx="7886700" cy="4948585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dirty="0"/>
                  <a:t>Assume :</a:t>
                </a:r>
              </a:p>
              <a:p>
                <a:pPr marL="457200" lvl="1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/>
              </a:p>
              <a:p>
                <a:r>
                  <a:rPr lang="en-US" altLang="zh-TW" dirty="0"/>
                  <a:t> Calculation :</a:t>
                </a:r>
              </a:p>
              <a:p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/>
              </a:p>
              <a:p>
                <a:r>
                  <a:rPr lang="en-US" altLang="zh-TW" dirty="0"/>
                  <a:t>Manufacturing specification limits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dirty="0" smtClean="0">
                          <a:latin typeface="Cambria Math" panose="02040503050406030204" pitchFamily="18" charset="0"/>
                        </a:rPr>
                        <m:t>0.75</m:t>
                      </m:r>
                      <m:r>
                        <a:rPr lang="en-US" altLang="zh-TW" b="0" i="0" dirty="0" smtClean="0">
                          <a:latin typeface="Cambria Math" panose="02040503050406030204" pitchFamily="18" charset="0"/>
                        </a:rPr>
                        <m:t>±0.032</m:t>
                      </m:r>
                    </m:oMath>
                  </m:oMathPara>
                </a14:m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/>
              </a:p>
              <a:p>
                <a:endParaRPr lang="en-US" altLang="zh-TW" dirty="0"/>
              </a:p>
              <a:p>
                <a:pPr lvl="1"/>
                <a:endParaRPr lang="en-US" altLang="zh-TW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2" name="內容版面配置區 1">
                <a:extLst>
                  <a:ext uri="{FF2B5EF4-FFF2-40B4-BE49-F238E27FC236}">
                    <a16:creationId xmlns:a16="http://schemas.microsoft.com/office/drawing/2014/main" id="{7D11A0B7-8BCF-4FE4-8628-9A23C28A7F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228378"/>
                <a:ext cx="7886700" cy="4948585"/>
              </a:xfrm>
              <a:blipFill>
                <a:blip r:embed="rId2"/>
                <a:stretch>
                  <a:fillRect l="-1391" t="-209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0953F02-0ED6-4B7F-81DD-F263A3EF0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73BFC9-37BC-400D-AD1A-8548763EB8E9}" type="slidenum">
              <a:rPr lang="ko-KR" altLang="en-US" smtClean="0"/>
              <a:pPr>
                <a:defRPr/>
              </a:pPr>
              <a:t>10</a:t>
            </a:fld>
            <a:endParaRPr lang="ko-KR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B7D50BB-7E17-464C-B070-2E7D8D6C9492}"/>
              </a:ext>
            </a:extLst>
          </p:cNvPr>
          <p:cNvSpPr txBox="1"/>
          <p:nvPr/>
        </p:nvSpPr>
        <p:spPr>
          <a:xfrm>
            <a:off x="628650" y="235874"/>
            <a:ext cx="70046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+mj-ea"/>
                <a:ea typeface="+mj-ea"/>
              </a:rPr>
              <a:t>Example for Manufacturing </a:t>
            </a:r>
            <a:r>
              <a:rPr lang="en-US" altLang="zh-TW" sz="2400" dirty="0" err="1">
                <a:latin typeface="+mj-ea"/>
                <a:ea typeface="+mj-ea"/>
              </a:rPr>
              <a:t>Secification</a:t>
            </a:r>
            <a:r>
              <a:rPr lang="en-US" altLang="zh-TW" sz="2400" dirty="0">
                <a:latin typeface="+mj-ea"/>
                <a:ea typeface="+mj-ea"/>
              </a:rPr>
              <a:t> Limits</a:t>
            </a:r>
            <a:endParaRPr lang="zh-TW" altLang="en-US" sz="2400" dirty="0">
              <a:latin typeface="+mj-ea"/>
              <a:ea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12FDC1C9-33F3-4F7C-8745-BB501D007CF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7629383"/>
                  </p:ext>
                </p:extLst>
              </p:nvPr>
            </p:nvGraphicFramePr>
            <p:xfrm>
              <a:off x="1524000" y="1789898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4088488971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866444257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337647288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600" dirty="0"/>
                            <a:t>Customer Tolerance</a:t>
                          </a:r>
                          <a:endParaRPr lang="zh-TW" alt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Customer Loss 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Producer Loss 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990537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>
                                        <a:latin typeface="Cambria Math" panose="02040503050406030204" pitchFamily="18" charset="0"/>
                                      </a:rPr>
                                      <m:t>Δ</m:t>
                                    </m:r>
                                  </m:e>
                                  <m:sub>
                                    <m:r>
                                      <a:rPr lang="en-US" altLang="zh-TW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  <m:r>
                                  <a:rPr lang="en-US" altLang="zh-TW">
                                    <a:latin typeface="Cambria Math" panose="02040503050406030204" pitchFamily="18" charset="0"/>
                                  </a:rPr>
                                  <m:t>=±0.0</m:t>
                                </m:r>
                                <m:r>
                                  <a:rPr lang="en-US" altLang="zh-TW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altLang="zh-TW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dirty="0" err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altLang="zh-TW" dirty="0" err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  <m:r>
                                  <a:rPr lang="en-US" altLang="zh-TW" dirty="0" err="1">
                                    <a:latin typeface="Cambria Math" panose="02040503050406030204" pitchFamily="18" charset="0"/>
                                  </a:rPr>
                                  <m:t>=2.5</m:t>
                                </m:r>
                                <m:r>
                                  <a:rPr lang="en-US" altLang="zh-TW" dirty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dirty="0">
                                    <a:latin typeface="Cambria Math" panose="02040503050406030204" pitchFamily="18" charset="0"/>
                                  </a:rPr>
                                  <m:t>USD</m:t>
                                </m:r>
                              </m:oMath>
                            </m:oMathPara>
                          </a14:m>
                          <a:endParaRPr lang="en-US" altLang="zh-TW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dirty="0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altLang="zh-TW" dirty="0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altLang="zh-TW" dirty="0" smtClean="0">
                                    <a:latin typeface="Cambria Math" panose="02040503050406030204" pitchFamily="18" charset="0"/>
                                  </a:rPr>
                                  <m:t>=1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dirty="0" smtClean="0">
                                    <a:latin typeface="Cambria Math" panose="02040503050406030204" pitchFamily="18" charset="0"/>
                                  </a:rPr>
                                  <m:t>USD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8822068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12FDC1C9-33F3-4F7C-8745-BB501D007CF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7629383"/>
                  </p:ext>
                </p:extLst>
              </p:nvPr>
            </p:nvGraphicFramePr>
            <p:xfrm>
              <a:off x="1524000" y="1789898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4088488971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866444257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337647288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600" dirty="0"/>
                            <a:t>Customer Tolerance</a:t>
                          </a:r>
                          <a:endParaRPr lang="zh-TW" alt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Customer Loss 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Producer Loss 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990537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t="-108197" r="-200901" b="-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9701" t="-108197" r="-100299" b="-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300" t="-108197" r="-601" b="-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8822068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34E4BC04-32DE-44BD-A4E8-9A8D70BA0D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280985"/>
              </p:ext>
            </p:extLst>
          </p:nvPr>
        </p:nvGraphicFramePr>
        <p:xfrm>
          <a:off x="1524000" y="3197210"/>
          <a:ext cx="6096000" cy="10109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13165138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844359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Manufacturing tolerance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Loss Function  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822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altLang="zh-TW" dirty="0"/>
                    </a:p>
                    <a:p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5919664"/>
                  </a:ext>
                </a:extLst>
              </a:tr>
            </a:tbl>
          </a:graphicData>
        </a:graphic>
      </p:graphicFrame>
      <p:pic>
        <p:nvPicPr>
          <p:cNvPr id="11" name="圖片 10">
            <a:extLst>
              <a:ext uri="{FF2B5EF4-FFF2-40B4-BE49-F238E27FC236}">
                <a16:creationId xmlns:a16="http://schemas.microsoft.com/office/drawing/2014/main" id="{1346FCC1-C8F6-4207-85DA-48CF8D166A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8686" y="3637977"/>
            <a:ext cx="2004849" cy="562144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F067E918-4E79-4DBE-A2C4-BBA912EE7FA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4451"/>
          <a:stretch/>
        </p:blipFill>
        <p:spPr>
          <a:xfrm>
            <a:off x="5050467" y="3637978"/>
            <a:ext cx="2131724" cy="562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3615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群組 19"/>
          <p:cNvGrpSpPr/>
          <p:nvPr/>
        </p:nvGrpSpPr>
        <p:grpSpPr>
          <a:xfrm>
            <a:off x="-27760" y="441422"/>
            <a:ext cx="9144793" cy="6541398"/>
            <a:chOff x="-27760" y="441422"/>
            <a:chExt cx="9144793" cy="6541398"/>
          </a:xfrm>
        </p:grpSpPr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7760" y="3142007"/>
              <a:ext cx="9144793" cy="3840813"/>
            </a:xfrm>
            <a:prstGeom prst="rect">
              <a:avLst/>
            </a:prstGeom>
            <a:effectLst>
              <a:innerShdw blurRad="114300">
                <a:prstClr val="black"/>
              </a:innerShdw>
            </a:effectLst>
          </p:spPr>
        </p:pic>
        <p:sp>
          <p:nvSpPr>
            <p:cNvPr id="14" name="等腰三角形 13"/>
            <p:cNvSpPr/>
            <p:nvPr/>
          </p:nvSpPr>
          <p:spPr>
            <a:xfrm rot="5400000">
              <a:off x="-207760" y="621422"/>
              <a:ext cx="1260000" cy="900000"/>
            </a:xfrm>
            <a:prstGeom prst="triangle">
              <a:avLst/>
            </a:prstGeom>
            <a:solidFill>
              <a:srgbClr val="E2231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zh-CN" altLang="en-US" sz="135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</p:grpSp>
      <p:sp>
        <p:nvSpPr>
          <p:cNvPr id="10" name="等腰三角形 9"/>
          <p:cNvSpPr/>
          <p:nvPr/>
        </p:nvSpPr>
        <p:spPr>
          <a:xfrm rot="16200000" flipH="1">
            <a:off x="8479841" y="2064156"/>
            <a:ext cx="761003" cy="656036"/>
          </a:xfrm>
          <a:prstGeom prst="triangle">
            <a:avLst>
              <a:gd name="adj" fmla="val 63472"/>
            </a:avLst>
          </a:prstGeom>
          <a:solidFill>
            <a:srgbClr val="58627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1" name="文本框 36"/>
          <p:cNvSpPr txBox="1"/>
          <p:nvPr/>
        </p:nvSpPr>
        <p:spPr>
          <a:xfrm>
            <a:off x="2366261" y="3142007"/>
            <a:ext cx="6494081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 defTabSz="685800"/>
            <a:r>
              <a:rPr lang="en-US" altLang="zh-TW" sz="2800" dirty="0"/>
              <a:t>Capability Analysis</a:t>
            </a:r>
            <a:endParaRPr lang="en-US" altLang="zh-CN" sz="2000" b="1" dirty="0">
              <a:solidFill>
                <a:srgbClr val="000000">
                  <a:lumMod val="75000"/>
                  <a:lumOff val="25000"/>
                </a:srgbClr>
              </a:solidFill>
              <a:latin typeface="Arial"/>
              <a:ea typeface="微软雅黑"/>
            </a:endParaRPr>
          </a:p>
        </p:txBody>
      </p:sp>
      <p:sp>
        <p:nvSpPr>
          <p:cNvPr id="12" name="文本框 37"/>
          <p:cNvSpPr txBox="1"/>
          <p:nvPr/>
        </p:nvSpPr>
        <p:spPr>
          <a:xfrm>
            <a:off x="4088892" y="2126344"/>
            <a:ext cx="4245073" cy="1015663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r" defTabSz="685800"/>
            <a:r>
              <a:rPr lang="en-US" altLang="zh-CN" sz="6000" b="1" dirty="0">
                <a:solidFill>
                  <a:srgbClr val="D8270A"/>
                </a:solidFill>
                <a:latin typeface="Arial"/>
                <a:ea typeface="微软雅黑"/>
              </a:rPr>
              <a:t>Section 8.3</a:t>
            </a:r>
            <a:endParaRPr lang="zh-CN" altLang="en-US" sz="6000" b="1" dirty="0">
              <a:solidFill>
                <a:srgbClr val="D8270A"/>
              </a:solidFill>
              <a:latin typeface="Arial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584905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A49CD3B-08D1-4D47-AE66-1FF16D987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Normally distributed process</a:t>
            </a:r>
          </a:p>
          <a:p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4C86793-C45C-4944-8A3D-823ED7D769C6}"/>
              </a:ext>
            </a:extLst>
          </p:cNvPr>
          <p:cNvSpPr txBox="1"/>
          <p:nvPr/>
        </p:nvSpPr>
        <p:spPr>
          <a:xfrm>
            <a:off x="628650" y="235874"/>
            <a:ext cx="70046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+mj-ea"/>
                <a:ea typeface="+mj-ea"/>
              </a:rPr>
              <a:t>8.3.1 The Voice of the Process</a:t>
            </a:r>
            <a:endParaRPr lang="zh-TW" altLang="en-US" sz="2400" dirty="0">
              <a:latin typeface="+mj-ea"/>
              <a:ea typeface="+mj-ea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8CC43E42-64A1-4926-95F0-770932750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1447" y="1851490"/>
            <a:ext cx="4181106" cy="4325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0405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014026-BDE4-4A09-8056-DE0D3B165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If the sample is representative of the population, then we can estimate the yield of the process through the sample proportion of correct items.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The yield of the sample : 78/84 = 92.86% </a:t>
            </a:r>
          </a:p>
          <a:p>
            <a:r>
              <a:rPr lang="en-US" altLang="zh-TW" dirty="0"/>
              <a:t>The proportion of defects in the sample : 7.14%.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CF82339-12A5-4B89-B47F-4DC4A4725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73BFC9-37BC-400D-AD1A-8548763EB8E9}" type="slidenum">
              <a:rPr lang="ko-KR" altLang="en-US" smtClean="0"/>
              <a:pPr>
                <a:defRPr/>
              </a:pPr>
              <a:t>13</a:t>
            </a:fld>
            <a:endParaRPr lang="ko-KR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085B1476-427A-463D-8B2F-657800B16EA1}"/>
              </a:ext>
            </a:extLst>
          </p:cNvPr>
          <p:cNvSpPr txBox="1"/>
          <p:nvPr/>
        </p:nvSpPr>
        <p:spPr>
          <a:xfrm>
            <a:off x="628650" y="235874"/>
            <a:ext cx="70046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+mj-ea"/>
                <a:ea typeface="+mj-ea"/>
              </a:rPr>
              <a:t>Process yield</a:t>
            </a:r>
            <a:endParaRPr lang="zh-TW" altLang="en-US" sz="2400" dirty="0">
              <a:latin typeface="+mj-ea"/>
              <a:ea typeface="+mj-ea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7303AE5-0D15-4DAC-B3BD-40B23DEDD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663" y="2735925"/>
            <a:ext cx="7248673" cy="1386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871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D10A2E92-3222-4FD9-BAEC-D0CE00E76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200000"/>
              </a:lnSpc>
              <a:buFont typeface="Wingdings" panose="05000000000000000000" pitchFamily="2" charset="2"/>
              <a:buAutoNum type="circleNumWdWhitePlain"/>
            </a:pPr>
            <a:r>
              <a:rPr lang="en-US" altLang="zh-TW" dirty="0"/>
              <a:t>Identify the probability distribution of the data.</a:t>
            </a:r>
          </a:p>
          <a:p>
            <a:pPr marL="514350" indent="-514350">
              <a:lnSpc>
                <a:spcPct val="200000"/>
              </a:lnSpc>
              <a:buFont typeface="Wingdings" panose="05000000000000000000" pitchFamily="2" charset="2"/>
              <a:buAutoNum type="circleNumWdWhitePlain"/>
            </a:pPr>
            <a:r>
              <a:rPr lang="en-US" altLang="zh-TW" dirty="0"/>
              <a:t>Estimate its parameters.</a:t>
            </a:r>
          </a:p>
          <a:p>
            <a:pPr marL="514350" indent="-514350">
              <a:lnSpc>
                <a:spcPct val="150000"/>
              </a:lnSpc>
              <a:buFont typeface="Wingdings" panose="05000000000000000000" pitchFamily="2" charset="2"/>
              <a:buAutoNum type="circleNumWdWhitePlain"/>
            </a:pPr>
            <a:r>
              <a:rPr lang="en-US" altLang="zh-TW" dirty="0"/>
              <a:t>The proportion of defects : the process exceeds the specification limits.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1200A81-C3DC-4C69-8BD5-EDDAA77B9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73BFC9-37BC-400D-AD1A-8548763EB8E9}" type="slidenum">
              <a:rPr lang="ko-KR" altLang="en-US" smtClean="0"/>
              <a:pPr>
                <a:defRPr/>
              </a:pPr>
              <a:t>14</a:t>
            </a:fld>
            <a:endParaRPr lang="ko-KR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539E52D-02D5-4641-A769-A4ECFF664C64}"/>
              </a:ext>
            </a:extLst>
          </p:cNvPr>
          <p:cNvSpPr txBox="1"/>
          <p:nvPr/>
        </p:nvSpPr>
        <p:spPr>
          <a:xfrm>
            <a:off x="628650" y="235874"/>
            <a:ext cx="70046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+mj-ea"/>
                <a:ea typeface="+mj-ea"/>
              </a:rPr>
              <a:t>Long-term performance of a process</a:t>
            </a:r>
            <a:endParaRPr lang="zh-TW" altLang="en-US" sz="2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4217841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5AA599A-B0EB-42D5-8A17-342F08353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Test for Normally distributed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F78CFDE-7D0F-4A2B-9FBB-A716A6394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73BFC9-37BC-400D-AD1A-8548763EB8E9}" type="slidenum">
              <a:rPr lang="ko-KR" altLang="en-US" smtClean="0"/>
              <a:pPr>
                <a:defRPr/>
              </a:pPr>
              <a:t>15</a:t>
            </a:fld>
            <a:endParaRPr lang="ko-KR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C7CA6A5-3C1E-412B-864F-B70B5C1D0686}"/>
              </a:ext>
            </a:extLst>
          </p:cNvPr>
          <p:cNvSpPr txBox="1"/>
          <p:nvPr/>
        </p:nvSpPr>
        <p:spPr>
          <a:xfrm>
            <a:off x="628650" y="235874"/>
            <a:ext cx="70046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+mj-ea"/>
                <a:ea typeface="+mj-ea"/>
              </a:rPr>
              <a:t>Proportion of defects – Normally distributed</a:t>
            </a:r>
            <a:endParaRPr lang="zh-TW" altLang="en-US" sz="2400" dirty="0">
              <a:latin typeface="+mj-ea"/>
              <a:ea typeface="+mj-ea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D925A32-8CDE-4E15-ACA0-D9B7FF863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798047"/>
            <a:ext cx="4678285" cy="1893029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F8FE49C0-9F3F-4AD3-ACF6-E7BCA2BF0D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6935" y="2161933"/>
            <a:ext cx="3207648" cy="3165256"/>
          </a:xfrm>
          <a:prstGeom prst="rect">
            <a:avLst/>
          </a:prstGeom>
        </p:spPr>
      </p:pic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AADA353D-BE76-4E76-BB40-08BCED397915}"/>
              </a:ext>
            </a:extLst>
          </p:cNvPr>
          <p:cNvCxnSpPr/>
          <p:nvPr/>
        </p:nvCxnSpPr>
        <p:spPr>
          <a:xfrm>
            <a:off x="2636875" y="4691076"/>
            <a:ext cx="1935125" cy="0"/>
          </a:xfrm>
          <a:prstGeom prst="line">
            <a:avLst/>
          </a:prstGeom>
          <a:ln w="38100">
            <a:solidFill>
              <a:srgbClr val="00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9F70A159-4164-44CD-973A-3152980CCF06}"/>
              </a:ext>
            </a:extLst>
          </p:cNvPr>
          <p:cNvSpPr/>
          <p:nvPr/>
        </p:nvSpPr>
        <p:spPr>
          <a:xfrm>
            <a:off x="680484" y="4797927"/>
            <a:ext cx="3912782" cy="636092"/>
          </a:xfrm>
          <a:prstGeom prst="roundRect">
            <a:avLst/>
          </a:prstGeom>
          <a:solidFill>
            <a:srgbClr val="00E6E6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/>
              <a:t>Cannot reject the normality hypothesis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06127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29EB3CD1-FD9C-4909-A5D0-DFA2A4702B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Estimate the parameters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E3E1E03-FC8D-4A9C-9F0A-4014E3E87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73BFC9-37BC-400D-AD1A-8548763EB8E9}" type="slidenum">
              <a:rPr lang="ko-KR" altLang="en-US" smtClean="0"/>
              <a:pPr>
                <a:defRPr/>
              </a:pPr>
              <a:t>16</a:t>
            </a:fld>
            <a:endParaRPr lang="ko-KR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69FAEFD-7CEB-4E40-8622-96D53214D60F}"/>
              </a:ext>
            </a:extLst>
          </p:cNvPr>
          <p:cNvSpPr txBox="1"/>
          <p:nvPr/>
        </p:nvSpPr>
        <p:spPr>
          <a:xfrm>
            <a:off x="628650" y="235874"/>
            <a:ext cx="70046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+mj-ea"/>
                <a:ea typeface="+mj-ea"/>
              </a:rPr>
              <a:t>Proportion of defects – Normally distributed</a:t>
            </a:r>
            <a:endParaRPr lang="zh-TW" altLang="en-US" sz="2400" dirty="0">
              <a:latin typeface="+mj-ea"/>
              <a:ea typeface="+mj-ea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FDF04B7-5D1D-4DA5-B046-E2F1D1181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384" y="2216889"/>
            <a:ext cx="6637231" cy="590106"/>
          </a:xfrm>
          <a:prstGeom prst="rect">
            <a:avLst/>
          </a:prstGeom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1990C0A8-49A0-429B-8F6E-64B6131D74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7779849"/>
              </p:ext>
            </p:extLst>
          </p:nvPr>
        </p:nvGraphicFramePr>
        <p:xfrm>
          <a:off x="1253383" y="3871687"/>
          <a:ext cx="6637232" cy="10263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318616">
                  <a:extLst>
                    <a:ext uri="{9D8B030D-6E8A-4147-A177-3AD203B41FA5}">
                      <a16:colId xmlns:a16="http://schemas.microsoft.com/office/drawing/2014/main" val="2614591233"/>
                    </a:ext>
                  </a:extLst>
                </a:gridCol>
                <a:gridCol w="3318616">
                  <a:extLst>
                    <a:ext uri="{9D8B030D-6E8A-4147-A177-3AD203B41FA5}">
                      <a16:colId xmlns:a16="http://schemas.microsoft.com/office/drawing/2014/main" val="546141332"/>
                    </a:ext>
                  </a:extLst>
                </a:gridCol>
              </a:tblGrid>
              <a:tr h="51318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Thick.mu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/>
                        <a:t>Thick.sigma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1751271"/>
                  </a:ext>
                </a:extLst>
              </a:tr>
              <a:tr h="51318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effectLst/>
                        </a:rPr>
                        <a:t>0.7585238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effectLst/>
                        </a:rPr>
                        <a:t>0.02789588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7496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10836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C9B481DC-8EA8-4423-A3F2-0CAE680C2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Proportion of defects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63796CF-5132-4B41-AA02-E7560445B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73BFC9-37BC-400D-AD1A-8548763EB8E9}" type="slidenum">
              <a:rPr lang="ko-KR" altLang="en-US" smtClean="0"/>
              <a:pPr>
                <a:defRPr/>
              </a:pPr>
              <a:t>17</a:t>
            </a:fld>
            <a:endParaRPr lang="ko-KR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9DB2CB4-6457-47C3-B3C3-82688193B742}"/>
              </a:ext>
            </a:extLst>
          </p:cNvPr>
          <p:cNvSpPr txBox="1"/>
          <p:nvPr/>
        </p:nvSpPr>
        <p:spPr>
          <a:xfrm>
            <a:off x="628650" y="235874"/>
            <a:ext cx="70046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+mj-ea"/>
                <a:ea typeface="+mj-ea"/>
              </a:rPr>
              <a:t>Proportion of defects – Normally distributed</a:t>
            </a:r>
            <a:endParaRPr lang="zh-TW" altLang="en-US" sz="2400" dirty="0">
              <a:latin typeface="+mj-ea"/>
              <a:ea typeface="+mj-ea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F38E77D-E03C-4792-88D6-0D13A0C02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484" y="1861009"/>
            <a:ext cx="5359031" cy="3683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6740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809DA413-C957-4466-8A12-2E8416236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Estimation methods : slightly different</a:t>
            </a:r>
          </a:p>
          <a:p>
            <a:pPr marL="0" indent="0">
              <a:buNone/>
            </a:pPr>
            <a:r>
              <a:rPr lang="en-US" altLang="zh-TW" dirty="0"/>
              <a:t>   Logic : the same</a:t>
            </a:r>
          </a:p>
          <a:p>
            <a:pPr marL="0" indent="0">
              <a:buNone/>
            </a:pPr>
            <a:r>
              <a:rPr lang="en-US" altLang="zh-TW" dirty="0"/>
              <a:t>                                              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2EDC06A-F9A5-4573-A558-FC728551A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73BFC9-37BC-400D-AD1A-8548763EB8E9}" type="slidenum">
              <a:rPr lang="ko-KR" altLang="en-US" smtClean="0"/>
              <a:pPr>
                <a:defRPr/>
              </a:pPr>
              <a:t>18</a:t>
            </a:fld>
            <a:endParaRPr lang="ko-KR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D2682E2-EF2A-455C-847D-71ADDCD2F904}"/>
              </a:ext>
            </a:extLst>
          </p:cNvPr>
          <p:cNvSpPr txBox="1"/>
          <p:nvPr/>
        </p:nvSpPr>
        <p:spPr>
          <a:xfrm>
            <a:off x="628650" y="101253"/>
            <a:ext cx="70046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+mj-ea"/>
                <a:ea typeface="+mj-ea"/>
              </a:rPr>
              <a:t>8.3.2 Process Performance Indices </a:t>
            </a:r>
          </a:p>
          <a:p>
            <a:r>
              <a:rPr lang="en-US" altLang="zh-TW" sz="2400" dirty="0">
                <a:latin typeface="+mj-ea"/>
                <a:ea typeface="+mj-ea"/>
              </a:rPr>
              <a:t>         Non-normal characteristics</a:t>
            </a:r>
            <a:endParaRPr lang="zh-TW" altLang="en-US" sz="2400" dirty="0">
              <a:latin typeface="+mj-ea"/>
              <a:ea typeface="+mj-ea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C96CD54-5997-49BE-84ED-0D80E38A7CFD}"/>
              </a:ext>
            </a:extLst>
          </p:cNvPr>
          <p:cNvSpPr txBox="1"/>
          <p:nvPr/>
        </p:nvSpPr>
        <p:spPr>
          <a:xfrm>
            <a:off x="4524153" y="3801140"/>
            <a:ext cx="2099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52FDF293-C48E-4FE7-9603-ED66B55CFE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7676141"/>
              </p:ext>
            </p:extLst>
          </p:nvPr>
        </p:nvGraphicFramePr>
        <p:xfrm>
          <a:off x="444574" y="2346205"/>
          <a:ext cx="8254852" cy="3648534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127426">
                  <a:extLst>
                    <a:ext uri="{9D8B030D-6E8A-4147-A177-3AD203B41FA5}">
                      <a16:colId xmlns:a16="http://schemas.microsoft.com/office/drawing/2014/main" val="3960662744"/>
                    </a:ext>
                  </a:extLst>
                </a:gridCol>
                <a:gridCol w="4127426">
                  <a:extLst>
                    <a:ext uri="{9D8B030D-6E8A-4147-A177-3AD203B41FA5}">
                      <a16:colId xmlns:a16="http://schemas.microsoft.com/office/drawing/2014/main" val="1684668167"/>
                    </a:ext>
                  </a:extLst>
                </a:gridCol>
              </a:tblGrid>
              <a:tr h="70863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The process is centered in the target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The process is not centered in the target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5275250"/>
                  </a:ext>
                </a:extLst>
              </a:tr>
              <a:tr h="2939903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AutoNum type="circleNumWdWhitePlain"/>
                      </a:pPr>
                      <a:endParaRPr lang="en-US" altLang="zh-TW" dirty="0"/>
                    </a:p>
                    <a:p>
                      <a:pPr marL="342900" indent="-342900">
                        <a:buFont typeface="Wingdings" panose="05000000000000000000" pitchFamily="2" charset="2"/>
                        <a:buAutoNum type="circleNumWdWhitePlain"/>
                      </a:pPr>
                      <a:r>
                        <a:rPr lang="en-US" altLang="zh-TW" dirty="0"/>
                        <a:t>Process performance index :</a:t>
                      </a:r>
                    </a:p>
                    <a:p>
                      <a:pPr marL="342900" indent="-342900">
                        <a:buFont typeface="Wingdings" panose="05000000000000000000" pitchFamily="2" charset="2"/>
                        <a:buAutoNum type="circleNumWdWhitePlain"/>
                      </a:pPr>
                      <a:endParaRPr lang="en-US" altLang="zh-TW" dirty="0"/>
                    </a:p>
                    <a:p>
                      <a:pPr marL="342900" indent="-342900">
                        <a:buFont typeface="Wingdings" panose="05000000000000000000" pitchFamily="2" charset="2"/>
                        <a:buAutoNum type="circleNumWdWhitePlain"/>
                      </a:pPr>
                      <a:endParaRPr lang="en-US" altLang="zh-TW" dirty="0"/>
                    </a:p>
                    <a:p>
                      <a:pPr marL="342900" indent="-342900">
                        <a:buFont typeface="Wingdings" panose="05000000000000000000" pitchFamily="2" charset="2"/>
                        <a:buAutoNum type="circleNumWdWhitePlain"/>
                      </a:pPr>
                      <a:endParaRPr lang="en-US" altLang="zh-TW" dirty="0"/>
                    </a:p>
                    <a:p>
                      <a:pPr marL="342900" indent="-342900">
                        <a:buFont typeface="Wingdings" panose="05000000000000000000" pitchFamily="2" charset="2"/>
                        <a:buAutoNum type="circleNumWdWhitePlain"/>
                      </a:pPr>
                      <a:endParaRPr lang="en-US" altLang="zh-TW" dirty="0"/>
                    </a:p>
                    <a:p>
                      <a:pPr marL="342900" indent="-342900">
                        <a:buFont typeface="Wingdings" panose="05000000000000000000" pitchFamily="2" charset="2"/>
                        <a:buAutoNum type="circleNumWdWhitePlain"/>
                      </a:pPr>
                      <a:endParaRPr lang="en-US" altLang="zh-TW" dirty="0"/>
                    </a:p>
                    <a:p>
                      <a:pPr marL="342900" indent="-342900">
                        <a:buFont typeface="Wingdings" panose="05000000000000000000" pitchFamily="2" charset="2"/>
                        <a:buAutoNum type="circleNumWdWhitePlain"/>
                      </a:pPr>
                      <a:r>
                        <a:rPr lang="en-US" altLang="zh-TW" dirty="0"/>
                        <a:t>The lower the index, the greater the proportion of non-conforming items.</a:t>
                      </a:r>
                    </a:p>
                    <a:p>
                      <a:endParaRPr lang="en-US" altLang="zh-TW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circleNumWdWhitePlain"/>
                        <a:tabLst/>
                        <a:defRPr/>
                      </a:pPr>
                      <a:endParaRPr lang="en-US" altLang="zh-TW" dirty="0"/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circleNumWdWhitePlain"/>
                        <a:tabLst/>
                        <a:defRPr/>
                      </a:pPr>
                      <a:r>
                        <a:rPr lang="en-US" altLang="zh-TW" dirty="0"/>
                        <a:t>Process performance index :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circleNumWdWhitePlain"/>
                        <a:tabLst/>
                        <a:defRPr/>
                      </a:pPr>
                      <a:endParaRPr lang="en-US" altLang="zh-TW" sz="18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circleNumWdWhitePlain"/>
                        <a:tabLst/>
                        <a:defRPr/>
                      </a:pPr>
                      <a:endParaRPr lang="en-US" altLang="zh-TW" sz="18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circleNumWdWhitePlain"/>
                        <a:tabLst/>
                        <a:defRPr/>
                      </a:pPr>
                      <a:endParaRPr lang="en-US" altLang="zh-TW" sz="18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AutoNum type="circleNumWdWhitePlain"/>
                        <a:tabLst/>
                        <a:defRPr/>
                      </a:pPr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Better the performance of the process.</a:t>
                      </a:r>
                      <a:endParaRPr lang="en-US" altLang="zh-TW" dirty="0"/>
                    </a:p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2307332"/>
                  </a:ext>
                </a:extLst>
              </a:tr>
            </a:tbl>
          </a:graphicData>
        </a:graphic>
      </p:graphicFrame>
      <p:pic>
        <p:nvPicPr>
          <p:cNvPr id="10" name="圖片 9">
            <a:extLst>
              <a:ext uri="{FF2B5EF4-FFF2-40B4-BE49-F238E27FC236}">
                <a16:creationId xmlns:a16="http://schemas.microsoft.com/office/drawing/2014/main" id="{94291557-2B9F-4EE9-9DD9-0AF465C4A4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13" r="10293"/>
          <a:stretch/>
        </p:blipFill>
        <p:spPr>
          <a:xfrm>
            <a:off x="1483402" y="3725236"/>
            <a:ext cx="2191423" cy="9414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35296B47-3048-48A2-93D9-034950A45DE8}"/>
                  </a:ext>
                </a:extLst>
              </p:cNvPr>
              <p:cNvSpPr txBox="1"/>
              <p:nvPr/>
            </p:nvSpPr>
            <p:spPr>
              <a:xfrm>
                <a:off x="1175511" y="4655024"/>
                <a:ext cx="280720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1400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zh-TW" altLang="en-US" sz="1400" i="1" dirty="0">
                              <a:latin typeface="Cambria Math" panose="02040503050406030204" pitchFamily="18" charset="0"/>
                            </a:rPr>
                            <m:t>𝐿𝑇</m:t>
                          </m:r>
                        </m:sub>
                      </m:sSub>
                      <m:r>
                        <a:rPr lang="en-US" altLang="zh-TW" sz="1400" i="1" dirty="0"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US" altLang="zh-TW" sz="1400" i="1" dirty="0">
                          <a:latin typeface="Cambria Math" panose="02040503050406030204" pitchFamily="18" charset="0"/>
                        </a:rPr>
                        <m:t>𝑙𝑜𝑛𝑔</m:t>
                      </m:r>
                      <m:r>
                        <a:rPr lang="en-US" altLang="zh-TW" sz="14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1400" i="1" dirty="0">
                          <a:latin typeface="Cambria Math" panose="02040503050406030204" pitchFamily="18" charset="0"/>
                        </a:rPr>
                        <m:t>𝑡𝑒𝑟𝑚</m:t>
                      </m:r>
                      <m:r>
                        <a:rPr lang="en-US" altLang="zh-TW" sz="1400" i="1" dirty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altLang="zh-TW" sz="1400" i="1" dirty="0">
                          <a:latin typeface="Cambria Math" panose="02040503050406030204" pitchFamily="18" charset="0"/>
                        </a:rPr>
                        <m:t>𝐿𝑇</m:t>
                      </m:r>
                      <m:r>
                        <a:rPr lang="en-US" altLang="zh-TW" sz="1400" i="1" dirty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altLang="zh-TW" sz="1400" i="1" dirty="0">
                          <a:latin typeface="Cambria Math" panose="02040503050406030204" pitchFamily="18" charset="0"/>
                        </a:rPr>
                        <m:t>𝑣𝑎𝑟𝑖𝑎𝑡𝑖𝑜𝑛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35296B47-3048-48A2-93D9-034950A45D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5511" y="4655024"/>
                <a:ext cx="2807206" cy="307777"/>
              </a:xfrm>
              <a:prstGeom prst="rect">
                <a:avLst/>
              </a:prstGeom>
              <a:blipFill>
                <a:blip r:embed="rId4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圖片 12">
            <a:extLst>
              <a:ext uri="{FF2B5EF4-FFF2-40B4-BE49-F238E27FC236}">
                <a16:creationId xmlns:a16="http://schemas.microsoft.com/office/drawing/2014/main" id="{5F954B66-9E47-4A7E-AFC5-C3DCDDE18F5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929"/>
          <a:stretch/>
        </p:blipFill>
        <p:spPr>
          <a:xfrm>
            <a:off x="4930743" y="3698438"/>
            <a:ext cx="1532626" cy="574735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54F2744C-13BA-4D6F-891A-64D8A0489C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9113" y="3698437"/>
            <a:ext cx="1638848" cy="574735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E10B3E55-FBEF-4BE2-A7F2-8F74B346CB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4061" y="4813871"/>
            <a:ext cx="2720046" cy="57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2531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內容版面配置區 1">
                <a:extLst>
                  <a:ext uri="{FF2B5EF4-FFF2-40B4-BE49-F238E27FC236}">
                    <a16:creationId xmlns:a16="http://schemas.microsoft.com/office/drawing/2014/main" id="{105C8B17-F007-448D-ABD0-366E5CE5FC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lnSpc>
                    <a:spcPct val="200000"/>
                  </a:lnSpc>
                  <a:buNone/>
                </a:pPr>
                <a:r>
                  <a:rPr lang="en-US" altLang="zh-TW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altLang="zh-TW" i="0" smtClean="0"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𝑃𝑘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TW" dirty="0"/>
              </a:p>
              <a:p>
                <a:pPr>
                  <a:lnSpc>
                    <a:spcPct val="20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TW" dirty="0"/>
                  <a:t>The process is not centered at the specification tolerance.</a:t>
                </a:r>
              </a:p>
              <a:p>
                <a:pPr>
                  <a:lnSpc>
                    <a:spcPct val="20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TW" dirty="0"/>
                  <a:t>The process might need to be adjusted.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" name="內容版面配置區 1">
                <a:extLst>
                  <a:ext uri="{FF2B5EF4-FFF2-40B4-BE49-F238E27FC236}">
                    <a16:creationId xmlns:a16="http://schemas.microsoft.com/office/drawing/2014/main" id="{105C8B17-F007-448D-ABD0-366E5CE5FC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5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BDE603C-4F37-4E85-B60D-028A20CBB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73BFC9-37BC-400D-AD1A-8548763EB8E9}" type="slidenum">
              <a:rPr lang="ko-KR" altLang="en-US" smtClean="0"/>
              <a:pPr>
                <a:defRPr/>
              </a:pPr>
              <a:t>19</a:t>
            </a:fld>
            <a:endParaRPr lang="ko-KR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DEBDDA1-EF77-4664-AE03-23203413A7B0}"/>
              </a:ext>
            </a:extLst>
          </p:cNvPr>
          <p:cNvSpPr txBox="1"/>
          <p:nvPr/>
        </p:nvSpPr>
        <p:spPr>
          <a:xfrm>
            <a:off x="628650" y="235874"/>
            <a:ext cx="70046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+mj-ea"/>
                <a:ea typeface="+mj-ea"/>
              </a:rPr>
              <a:t>Process Performance Indices</a:t>
            </a:r>
            <a:endParaRPr lang="zh-TW" altLang="en-US" sz="2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5087691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8A06FF38-5CDC-4F6D-9FEA-1D294C6BA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90721" y="1704995"/>
            <a:ext cx="2509285" cy="99414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6EB6076-55B1-4816-8BEC-526148A77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73BFC9-37BC-400D-AD1A-8548763EB8E9}" type="slidenum">
              <a:rPr lang="ko-KR" altLang="en-US" smtClean="0"/>
              <a:pPr>
                <a:defRPr/>
              </a:pPr>
              <a:t>20</a:t>
            </a:fld>
            <a:endParaRPr lang="ko-KR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4E64E43-7114-4532-8EA4-C38A7511AE28}"/>
              </a:ext>
            </a:extLst>
          </p:cNvPr>
          <p:cNvSpPr txBox="1"/>
          <p:nvPr/>
        </p:nvSpPr>
        <p:spPr>
          <a:xfrm>
            <a:off x="628650" y="235874"/>
            <a:ext cx="70046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+mj-ea"/>
                <a:ea typeface="+mj-ea"/>
              </a:rPr>
              <a:t>Specification limits vs. reference limits.</a:t>
            </a:r>
            <a:endParaRPr lang="zh-TW" altLang="en-US" sz="2400" dirty="0">
              <a:latin typeface="+mj-ea"/>
              <a:ea typeface="+mj-ea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411CA7F-7FE6-45E6-8A20-73D9D2D03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412" y="1953788"/>
            <a:ext cx="8034045" cy="2950423"/>
          </a:xfrm>
          <a:prstGeom prst="rect">
            <a:avLst/>
          </a:prstGeom>
        </p:spPr>
      </p:pic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34B0B309-EB89-45DE-8E9D-9D85E00C29D6}"/>
              </a:ext>
            </a:extLst>
          </p:cNvPr>
          <p:cNvSpPr/>
          <p:nvPr/>
        </p:nvSpPr>
        <p:spPr>
          <a:xfrm>
            <a:off x="956700" y="1492122"/>
            <a:ext cx="2087112" cy="46166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chemeClr val="tx1"/>
                </a:solidFill>
              </a:rPr>
              <a:t>Performance indices = 1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3E8CC1EA-4C98-4E15-8B9D-8F01BE000165}"/>
              </a:ext>
            </a:extLst>
          </p:cNvPr>
          <p:cNvSpPr/>
          <p:nvPr/>
        </p:nvSpPr>
        <p:spPr>
          <a:xfrm>
            <a:off x="3660878" y="1492122"/>
            <a:ext cx="2087112" cy="46166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chemeClr val="tx1"/>
                </a:solidFill>
              </a:rPr>
              <a:t>Performance indices &gt; 1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B7909F98-D24F-4518-A5E6-233E5BB9386A}"/>
              </a:ext>
            </a:extLst>
          </p:cNvPr>
          <p:cNvSpPr/>
          <p:nvPr/>
        </p:nvSpPr>
        <p:spPr>
          <a:xfrm>
            <a:off x="6369476" y="1492123"/>
            <a:ext cx="2087112" cy="46166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chemeClr val="tx1"/>
                </a:solidFill>
              </a:rPr>
              <a:t>Performance indices &lt; 1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81DF8BFF-0DC6-49E4-8FEA-380B209DF9A2}"/>
                  </a:ext>
                </a:extLst>
              </p:cNvPr>
              <p:cNvSpPr/>
              <p:nvPr/>
            </p:nvSpPr>
            <p:spPr>
              <a:xfrm>
                <a:off x="824264" y="4903821"/>
                <a:ext cx="235198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1400" dirty="0"/>
                  <a:t>Get approximately </a:t>
                </a:r>
                <a14:m>
                  <m:oMath xmlns:m="http://schemas.openxmlformats.org/officeDocument/2006/math">
                    <m:r>
                      <a:rPr lang="en-US" altLang="zh-TW" sz="140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TW" sz="1400" i="0" smtClean="0">
                        <a:latin typeface="Cambria Math" panose="02040503050406030204" pitchFamily="18" charset="0"/>
                      </a:rPr>
                      <m:t>×100%</m:t>
                    </m:r>
                  </m:oMath>
                </a14:m>
                <a:r>
                  <a:rPr lang="en-US" altLang="zh-TW" sz="1400" dirty="0"/>
                  <a:t> defects in the long term.</a:t>
                </a:r>
                <a:endParaRPr lang="zh-TW" altLang="en-US" sz="1400" dirty="0"/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81DF8BFF-0DC6-49E4-8FEA-380B209DF9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264" y="4903821"/>
                <a:ext cx="2351983" cy="523220"/>
              </a:xfrm>
              <a:prstGeom prst="rect">
                <a:avLst/>
              </a:prstGeom>
              <a:blipFill>
                <a:blip r:embed="rId4"/>
                <a:stretch>
                  <a:fillRect l="-777" t="-1163" b="-1162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>
            <a:extLst>
              <a:ext uri="{FF2B5EF4-FFF2-40B4-BE49-F238E27FC236}">
                <a16:creationId xmlns:a16="http://schemas.microsoft.com/office/drawing/2014/main" id="{AE513290-1268-4A38-BB43-ABD525F4CD5E}"/>
              </a:ext>
            </a:extLst>
          </p:cNvPr>
          <p:cNvSpPr/>
          <p:nvPr/>
        </p:nvSpPr>
        <p:spPr>
          <a:xfrm>
            <a:off x="3528442" y="4903821"/>
            <a:ext cx="23519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/>
              <a:t>The process is “capable” of fulfilling the specifications</a:t>
            </a:r>
            <a:endParaRPr lang="zh-TW" altLang="en-US" sz="1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9DCBB0EE-BFD6-4386-9D73-95FD18A36CC3}"/>
                  </a:ext>
                </a:extLst>
              </p:cNvPr>
              <p:cNvSpPr/>
              <p:nvPr/>
            </p:nvSpPr>
            <p:spPr>
              <a:xfrm>
                <a:off x="6384331" y="4796294"/>
                <a:ext cx="2057401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1400" dirty="0"/>
                  <a:t>Poor quality and the proportion of defects is greater than </a:t>
                </a:r>
                <a14:m>
                  <m:oMath xmlns:m="http://schemas.openxmlformats.org/officeDocument/2006/math">
                    <m:r>
                      <a:rPr lang="en-US" altLang="zh-TW" sz="14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zh-TW" sz="1400" dirty="0"/>
                  <a:t>.</a:t>
                </a:r>
                <a:endParaRPr lang="zh-TW" altLang="en-US" sz="1000" dirty="0"/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9DCBB0EE-BFD6-4386-9D73-95FD18A36C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4331" y="4796294"/>
                <a:ext cx="2057401" cy="738664"/>
              </a:xfrm>
              <a:prstGeom prst="rect">
                <a:avLst/>
              </a:prstGeom>
              <a:blipFill>
                <a:blip r:embed="rId5"/>
                <a:stretch>
                  <a:fillRect l="-888" t="-1653" b="-74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6643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AC5988AA-1288-47A9-9E9F-AE30AFB56A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2070243"/>
            <a:ext cx="7886700" cy="2717514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627FEA7-499F-4AF9-8D86-EF146DDB5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73BFC9-37BC-400D-AD1A-8548763EB8E9}" type="slidenum">
              <a:rPr lang="ko-KR" altLang="en-US" smtClean="0"/>
              <a:pPr>
                <a:defRPr/>
              </a:pPr>
              <a:t>21</a:t>
            </a:fld>
            <a:endParaRPr lang="ko-KR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AFF834CD-B6E1-4BF6-B2D7-F914AF392C6C}"/>
              </a:ext>
            </a:extLst>
          </p:cNvPr>
          <p:cNvSpPr txBox="1"/>
          <p:nvPr/>
        </p:nvSpPr>
        <p:spPr>
          <a:xfrm>
            <a:off x="628650" y="235874"/>
            <a:ext cx="70046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+mj-ea"/>
                <a:ea typeface="+mj-ea"/>
              </a:rPr>
              <a:t>Process Performance Indices - Samples</a:t>
            </a:r>
            <a:endParaRPr lang="zh-TW" altLang="en-US" sz="2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1385856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內容版面配置區 1">
                <a:extLst>
                  <a:ext uri="{FF2B5EF4-FFF2-40B4-BE49-F238E27FC236}">
                    <a16:creationId xmlns:a16="http://schemas.microsoft.com/office/drawing/2014/main" id="{4C6E2B35-1471-4FEE-B08B-7B2050BFE0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Producer’s specification limits : </a:t>
                </a:r>
                <a14:m>
                  <m:oMath xmlns:m="http://schemas.openxmlformats.org/officeDocument/2006/math">
                    <m:r>
                      <a:rPr lang="en-US" altLang="zh-TW" b="0" i="0" dirty="0" smtClean="0">
                        <a:latin typeface="Cambria Math" panose="02040503050406030204" pitchFamily="18" charset="0"/>
                      </a:rPr>
                      <m:t>0.75</m:t>
                    </m:r>
                    <m:r>
                      <a:rPr lang="zh-TW" altLang="en-US" dirty="0" smtClean="0">
                        <a:latin typeface="Cambria Math" panose="02040503050406030204" pitchFamily="18" charset="0"/>
                      </a:rPr>
                      <m:t>±</m:t>
                    </m:r>
                    <m:r>
                      <a:rPr lang="en-US" altLang="zh-TW" b="0" i="0" dirty="0" smtClean="0">
                        <a:latin typeface="Cambria Math" panose="02040503050406030204" pitchFamily="18" charset="0"/>
                      </a:rPr>
                      <m:t>0.032</m:t>
                    </m:r>
                  </m:oMath>
                </a14:m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/>
                  <a:t>   USL = 0.782 ;  LSL = 0.718 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" name="內容版面配置區 1">
                <a:extLst>
                  <a:ext uri="{FF2B5EF4-FFF2-40B4-BE49-F238E27FC236}">
                    <a16:creationId xmlns:a16="http://schemas.microsoft.com/office/drawing/2014/main" id="{4C6E2B35-1471-4FEE-B08B-7B2050BFE0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91" t="-209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8EF691E-E2D1-43A4-BAE4-3B3071000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73BFC9-37BC-400D-AD1A-8548763EB8E9}" type="slidenum">
              <a:rPr lang="ko-KR" altLang="en-US" smtClean="0"/>
              <a:pPr>
                <a:defRPr/>
              </a:pPr>
              <a:t>22</a:t>
            </a:fld>
            <a:endParaRPr lang="ko-KR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1EC2669-F347-470B-88C4-9B86268C099B}"/>
              </a:ext>
            </a:extLst>
          </p:cNvPr>
          <p:cNvSpPr txBox="1"/>
          <p:nvPr/>
        </p:nvSpPr>
        <p:spPr>
          <a:xfrm>
            <a:off x="628650" y="235874"/>
            <a:ext cx="70046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+mj-ea"/>
                <a:ea typeface="+mj-ea"/>
              </a:rPr>
              <a:t>Process performance.</a:t>
            </a:r>
            <a:endParaRPr lang="zh-TW" altLang="en-US" sz="2400" dirty="0">
              <a:latin typeface="+mj-ea"/>
              <a:ea typeface="+mj-ea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B2D7C0A-E40B-4E80-968B-A67B52C364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324" y="2480335"/>
            <a:ext cx="7567352" cy="3149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8554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BD797E70-6877-4EB1-8C57-043C131DD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Performance indices measure long-term (LT) variability. </a:t>
            </a:r>
          </a:p>
          <a:p>
            <a:r>
              <a:rPr lang="en-US" altLang="zh-TW" dirty="0"/>
              <a:t>Once the process is in control, capability indices can be obtained.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Taguchi index : </a:t>
            </a:r>
            <a:endParaRPr lang="zh-TW" altLang="en-US" dirty="0"/>
          </a:p>
          <a:p>
            <a:endParaRPr lang="en-US" altLang="zh-TW" dirty="0"/>
          </a:p>
          <a:p>
            <a:endParaRPr lang="en-US" altLang="zh-TW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60CB0D90-92BF-4AF5-8C9F-63BF40FA3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73BFC9-37BC-400D-AD1A-8548763EB8E9}" type="slidenum">
              <a:rPr lang="ko-KR" altLang="en-US" smtClean="0"/>
              <a:pPr>
                <a:defRPr/>
              </a:pPr>
              <a:t>23</a:t>
            </a:fld>
            <a:endParaRPr lang="ko-KR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B141358-CFBE-4F89-BC46-38865947C305}"/>
              </a:ext>
            </a:extLst>
          </p:cNvPr>
          <p:cNvSpPr txBox="1"/>
          <p:nvPr/>
        </p:nvSpPr>
        <p:spPr>
          <a:xfrm>
            <a:off x="628650" y="235874"/>
            <a:ext cx="70046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+mj-ea"/>
                <a:ea typeface="+mj-ea"/>
              </a:rPr>
              <a:t>8.3.3 Capability Indices</a:t>
            </a:r>
            <a:endParaRPr lang="zh-TW" altLang="en-US" sz="2400" dirty="0">
              <a:latin typeface="+mj-ea"/>
              <a:ea typeface="+mj-ea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F7D5F15-CF89-433C-BD54-AB89E93FC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544" y="2966269"/>
            <a:ext cx="6052963" cy="156445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DB8271CA-8C05-4749-A85B-397EBCCF06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0769" y="2966269"/>
            <a:ext cx="1614274" cy="1032909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310C82C1-E98F-4131-B37F-4F12193AA5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544" y="4595752"/>
            <a:ext cx="4105523" cy="1073113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530649C7-5802-4618-B308-DE09BB0F22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5961" y="4595752"/>
            <a:ext cx="3589082" cy="1516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8072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9AB21937-CC61-4D45-A1B6-85E82A7D03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080674"/>
            <a:ext cx="7886700" cy="1162064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4E79FE2-0FBC-4CC7-90A0-5E843118D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73BFC9-37BC-400D-AD1A-8548763EB8E9}" type="slidenum">
              <a:rPr lang="ko-KR" altLang="en-US" smtClean="0"/>
              <a:pPr>
                <a:defRPr/>
              </a:pPr>
              <a:t>24</a:t>
            </a:fld>
            <a:endParaRPr lang="ko-KR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B2658A8-BD0E-4406-A631-ED7F56B74938}"/>
              </a:ext>
            </a:extLst>
          </p:cNvPr>
          <p:cNvSpPr txBox="1"/>
          <p:nvPr/>
        </p:nvSpPr>
        <p:spPr>
          <a:xfrm>
            <a:off x="628650" y="241416"/>
            <a:ext cx="70046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+mj-ea"/>
                <a:ea typeface="+mj-ea"/>
              </a:rPr>
              <a:t>Example 8.5 Capability indices.</a:t>
            </a:r>
            <a:endParaRPr lang="zh-TW" altLang="en-US" sz="2400" dirty="0">
              <a:latin typeface="+mj-ea"/>
              <a:ea typeface="+mj-ea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31B04552-ABDE-40D8-B6C9-368150919D6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72" r="35657" b="88567"/>
          <a:stretch/>
        </p:blipFill>
        <p:spPr>
          <a:xfrm>
            <a:off x="628650" y="2242738"/>
            <a:ext cx="4730289" cy="570466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04E688C8-0F66-4266-8F02-F567E3FA4B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463" y="2813204"/>
            <a:ext cx="4736476" cy="3659887"/>
          </a:xfrm>
          <a:prstGeom prst="rect">
            <a:avLst/>
          </a:prstGeom>
        </p:spPr>
      </p:pic>
      <p:sp>
        <p:nvSpPr>
          <p:cNvPr id="9" name="矩形: 圓角 8">
            <a:extLst>
              <a:ext uri="{FF2B5EF4-FFF2-40B4-BE49-F238E27FC236}">
                <a16:creationId xmlns:a16="http://schemas.microsoft.com/office/drawing/2014/main" id="{6DC480BC-8FE9-4C6D-8BC6-7CB6730CA6AC}"/>
              </a:ext>
            </a:extLst>
          </p:cNvPr>
          <p:cNvSpPr/>
          <p:nvPr/>
        </p:nvSpPr>
        <p:spPr>
          <a:xfrm>
            <a:off x="5417127" y="4169321"/>
            <a:ext cx="3487363" cy="94765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400" dirty="0" err="1">
                <a:solidFill>
                  <a:schemeClr val="tx1"/>
                </a:solidFill>
              </a:rPr>
              <a:t>Obs</a:t>
            </a:r>
            <a:r>
              <a:rPr lang="en-US" altLang="zh-TW" sz="1400" dirty="0">
                <a:solidFill>
                  <a:schemeClr val="tx1"/>
                </a:solidFill>
              </a:rPr>
              <a:t> &gt; USL = </a:t>
            </a:r>
          </a:p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sum(ss.data.thickness2$thickness &gt; 0.782) / length(ss.data.thickness2$thickness)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0F9F0952-2AC0-464A-9C38-984D75B3D0CB}"/>
              </a:ext>
            </a:extLst>
          </p:cNvPr>
          <p:cNvSpPr/>
          <p:nvPr/>
        </p:nvSpPr>
        <p:spPr>
          <a:xfrm>
            <a:off x="5417126" y="5321206"/>
            <a:ext cx="3487363" cy="94765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400" dirty="0" err="1">
                <a:solidFill>
                  <a:schemeClr val="tx1"/>
                </a:solidFill>
              </a:rPr>
              <a:t>Obs</a:t>
            </a:r>
            <a:r>
              <a:rPr lang="en-US" altLang="zh-TW" sz="1400" dirty="0">
                <a:solidFill>
                  <a:schemeClr val="tx1"/>
                </a:solidFill>
              </a:rPr>
              <a:t> &lt; LSL = </a:t>
            </a:r>
          </a:p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sum(ss.data.thickness2$thickness &lt; 0.718) / length(ss.data.thickness2$thickness)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01047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9838" y="1588038"/>
            <a:ext cx="5298332" cy="3973749"/>
          </a:xfrm>
          <a:prstGeom prst="rect">
            <a:avLst/>
          </a:prstGeom>
        </p:spPr>
      </p:pic>
      <p:sp>
        <p:nvSpPr>
          <p:cNvPr id="2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173BFC9-37BC-400D-AD1A-8548763EB8E9}" type="slidenum">
              <a:rPr lang="ko-KR" altLang="en-US" smtClean="0"/>
              <a:pPr>
                <a:defRPr/>
              </a:pPr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90547124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訂 5">
      <a:majorFont>
        <a:latin typeface="Calibri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佈景主題1" id="{F9534BCE-557B-490E-AFC8-0BC8166C4F84}" vid="{665F76A3-4E5B-43CE-82D6-3F389CA4AEEB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1406</TotalTime>
  <Words>823</Words>
  <Application>Microsoft Macintosh PowerPoint</Application>
  <PresentationFormat>如螢幕大小 (4:3)</PresentationFormat>
  <Paragraphs>184</Paragraphs>
  <Slides>25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25</vt:i4>
      </vt:variant>
    </vt:vector>
  </HeadingPairs>
  <TitlesOfParts>
    <vt:vector size="35" baseType="lpstr">
      <vt:lpstr>微軟正黑體</vt:lpstr>
      <vt:lpstr>新細明體</vt:lpstr>
      <vt:lpstr>等线</vt:lpstr>
      <vt:lpstr>微软雅黑</vt:lpstr>
      <vt:lpstr>Arial</vt:lpstr>
      <vt:lpstr>Calibri</vt:lpstr>
      <vt:lpstr>Cambria Math</vt:lpstr>
      <vt:lpstr>Tahoma</vt:lpstr>
      <vt:lpstr>Wingdings</vt:lpstr>
      <vt:lpstr>佈景主題1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Quality Specifications and Process Capability Analysis with R </dc:title>
  <dc:creator>博惇 許</dc:creator>
  <cp:lastModifiedBy>博惇 許</cp:lastModifiedBy>
  <cp:revision>42</cp:revision>
  <dcterms:created xsi:type="dcterms:W3CDTF">2019-07-30T12:02:56Z</dcterms:created>
  <dcterms:modified xsi:type="dcterms:W3CDTF">2019-08-09T05:30:58Z</dcterms:modified>
</cp:coreProperties>
</file>